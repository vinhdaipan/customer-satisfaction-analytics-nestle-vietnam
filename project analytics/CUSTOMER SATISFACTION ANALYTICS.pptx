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9" r:id="rId3"/>
    <p:sldId id="261" r:id="rId4"/>
    <p:sldId id="260" r:id="rId5"/>
    <p:sldId id="258" r:id="rId6"/>
    <p:sldId id="263" r:id="rId7"/>
    <p:sldId id="264" r:id="rId8"/>
    <p:sldId id="262" r:id="rId9"/>
    <p:sldId id="268" r:id="rId10"/>
    <p:sldId id="266" r:id="rId11"/>
    <p:sldId id="269" r:id="rId12"/>
    <p:sldId id="270" r:id="rId13"/>
    <p:sldId id="271" r:id="rId14"/>
    <p:sldId id="273" r:id="rId15"/>
    <p:sldId id="272" r:id="rId16"/>
    <p:sldId id="274"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FAF3B-0E49-4AD2-9D80-708405173E98}" type="datetimeFigureOut">
              <a:rPr lang="en-US" smtClean="0"/>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D76AC5-88A8-4EC8-8340-A9BD1423C83B}" type="slidenum">
              <a:rPr lang="en-US" smtClean="0"/>
              <a:t>‹#›</a:t>
            </a:fld>
            <a:endParaRPr lang="en-US"/>
          </a:p>
        </p:txBody>
      </p:sp>
    </p:spTree>
    <p:extLst>
      <p:ext uri="{BB962C8B-B14F-4D97-AF65-F5344CB8AC3E}">
        <p14:creationId xmlns:p14="http://schemas.microsoft.com/office/powerpoint/2010/main" val="2252370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D76AC5-88A8-4EC8-8340-A9BD1423C83B}" type="slidenum">
              <a:rPr lang="en-US" smtClean="0"/>
              <a:t>3</a:t>
            </a:fld>
            <a:endParaRPr lang="en-US"/>
          </a:p>
        </p:txBody>
      </p:sp>
    </p:spTree>
    <p:extLst>
      <p:ext uri="{BB962C8B-B14F-4D97-AF65-F5344CB8AC3E}">
        <p14:creationId xmlns:p14="http://schemas.microsoft.com/office/powerpoint/2010/main" val="37314436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8EE57563-D1FB-69E1-B7FD-4EDE8F13ECBD}"/>
              </a:ext>
            </a:extLst>
          </p:cNvPr>
          <p:cNvSpPr>
            <a:spLocks noGrp="1"/>
          </p:cNvSpPr>
          <p:nvPr>
            <p:ph type="pic" idx="1"/>
          </p:nvPr>
        </p:nvSpPr>
        <p:spPr>
          <a:xfrm>
            <a:off x="6548582" y="1523999"/>
            <a:ext cx="4806806" cy="27986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2" name="Picture Placeholder 2">
            <a:extLst>
              <a:ext uri="{FF2B5EF4-FFF2-40B4-BE49-F238E27FC236}">
                <a16:creationId xmlns:a16="http://schemas.microsoft.com/office/drawing/2014/main" id="{C3652866-0BDF-673E-EE3A-75B84E4D129C}"/>
              </a:ext>
            </a:extLst>
          </p:cNvPr>
          <p:cNvSpPr>
            <a:spLocks noGrp="1"/>
          </p:cNvSpPr>
          <p:nvPr>
            <p:ph type="pic" idx="13"/>
          </p:nvPr>
        </p:nvSpPr>
        <p:spPr>
          <a:xfrm>
            <a:off x="836613" y="1523999"/>
            <a:ext cx="4806806" cy="27986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3" name="Title 1">
            <a:extLst>
              <a:ext uri="{FF2B5EF4-FFF2-40B4-BE49-F238E27FC236}">
                <a16:creationId xmlns:a16="http://schemas.microsoft.com/office/drawing/2014/main" id="{67F87573-0750-2B04-B30F-88FDD8EDA7EA}"/>
              </a:ext>
            </a:extLst>
          </p:cNvPr>
          <p:cNvSpPr>
            <a:spLocks noGrp="1"/>
          </p:cNvSpPr>
          <p:nvPr>
            <p:ph type="title"/>
          </p:nvPr>
        </p:nvSpPr>
        <p:spPr>
          <a:xfrm>
            <a:off x="1273897" y="4811175"/>
            <a:ext cx="3932237" cy="308787"/>
          </a:xfrm>
        </p:spPr>
        <p:txBody>
          <a:bodyPr anchor="b"/>
          <a:lstStyle>
            <a:lvl1pPr algn="ctr">
              <a:defRPr sz="1400" b="1">
                <a:solidFill>
                  <a:srgbClr val="FF000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4" name="Text Placeholder 3">
            <a:extLst>
              <a:ext uri="{FF2B5EF4-FFF2-40B4-BE49-F238E27FC236}">
                <a16:creationId xmlns:a16="http://schemas.microsoft.com/office/drawing/2014/main" id="{80F5430E-9685-C966-4AC4-FBCD0929928F}"/>
              </a:ext>
            </a:extLst>
          </p:cNvPr>
          <p:cNvSpPr>
            <a:spLocks noGrp="1"/>
          </p:cNvSpPr>
          <p:nvPr>
            <p:ph type="body" sz="half" idx="2"/>
          </p:nvPr>
        </p:nvSpPr>
        <p:spPr>
          <a:xfrm>
            <a:off x="839788" y="5330794"/>
            <a:ext cx="4803631" cy="1058779"/>
          </a:xfrm>
        </p:spPr>
        <p:txBody>
          <a:bodyPr/>
          <a:lstStyle>
            <a:lvl1pPr marL="0" indent="0">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5" name="Text Placeholder 3">
            <a:extLst>
              <a:ext uri="{FF2B5EF4-FFF2-40B4-BE49-F238E27FC236}">
                <a16:creationId xmlns:a16="http://schemas.microsoft.com/office/drawing/2014/main" id="{F6E4A29F-21D6-E1CA-F434-B22F5340B45D}"/>
              </a:ext>
            </a:extLst>
          </p:cNvPr>
          <p:cNvSpPr>
            <a:spLocks noGrp="1"/>
          </p:cNvSpPr>
          <p:nvPr>
            <p:ph type="body" sz="half" idx="14"/>
          </p:nvPr>
        </p:nvSpPr>
        <p:spPr>
          <a:xfrm>
            <a:off x="6550169" y="5330794"/>
            <a:ext cx="4803631" cy="1058779"/>
          </a:xfrm>
        </p:spPr>
        <p:txBody>
          <a:bodyPr/>
          <a:lstStyle>
            <a:lvl1pPr marL="0" indent="0">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1" name="Text Placeholder 3">
            <a:extLst>
              <a:ext uri="{FF2B5EF4-FFF2-40B4-BE49-F238E27FC236}">
                <a16:creationId xmlns:a16="http://schemas.microsoft.com/office/drawing/2014/main" id="{E41BC0F1-5420-E84D-79C3-61355CED1A4B}"/>
              </a:ext>
            </a:extLst>
          </p:cNvPr>
          <p:cNvSpPr>
            <a:spLocks noGrp="1"/>
          </p:cNvSpPr>
          <p:nvPr>
            <p:ph type="body" sz="half" idx="15"/>
          </p:nvPr>
        </p:nvSpPr>
        <p:spPr>
          <a:xfrm>
            <a:off x="836613" y="586607"/>
            <a:ext cx="4803631" cy="448835"/>
          </a:xfrm>
        </p:spPr>
        <p:txBody>
          <a:bodyPr/>
          <a:lstStyle>
            <a:lvl1pPr marL="0" indent="0">
              <a:buNone/>
              <a:defRPr sz="2400" b="1" u="sng">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9" name="Google Shape;208;p37">
            <a:extLst>
              <a:ext uri="{FF2B5EF4-FFF2-40B4-BE49-F238E27FC236}">
                <a16:creationId xmlns:a16="http://schemas.microsoft.com/office/drawing/2014/main" id="{09DE206D-D4B1-2B49-DD01-7860A1EFF8A4}"/>
              </a:ext>
            </a:extLst>
          </p:cNvPr>
          <p:cNvPicPr preferRelativeResize="0"/>
          <p:nvPr userDrawn="1"/>
        </p:nvPicPr>
        <p:blipFill>
          <a:blip r:embed="rId2">
            <a:alphaModFix/>
          </a:blip>
          <a:srcRect l="15400" r="64998"/>
          <a:stretch>
            <a:fillRect/>
          </a:stretch>
        </p:blipFill>
        <p:spPr>
          <a:xfrm rot="5400000">
            <a:off x="5861787" y="-5369560"/>
            <a:ext cx="468428" cy="11207552"/>
          </a:xfrm>
          <a:prstGeom prst="rect">
            <a:avLst/>
          </a:prstGeom>
          <a:noFill/>
          <a:ln>
            <a:noFill/>
          </a:ln>
        </p:spPr>
      </p:pic>
    </p:spTree>
    <p:extLst>
      <p:ext uri="{BB962C8B-B14F-4D97-AF65-F5344CB8AC3E}">
        <p14:creationId xmlns:p14="http://schemas.microsoft.com/office/powerpoint/2010/main" val="815549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0BF108A-D2B7-5D2C-87D2-45A6107B96B4}"/>
              </a:ext>
            </a:extLst>
          </p:cNvPr>
          <p:cNvSpPr>
            <a:spLocks noGrp="1"/>
          </p:cNvSpPr>
          <p:nvPr>
            <p:ph type="pic" idx="13"/>
          </p:nvPr>
        </p:nvSpPr>
        <p:spPr>
          <a:xfrm>
            <a:off x="836613" y="1523999"/>
            <a:ext cx="3270166" cy="27986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 name="Title 1">
            <a:extLst>
              <a:ext uri="{FF2B5EF4-FFF2-40B4-BE49-F238E27FC236}">
                <a16:creationId xmlns:a16="http://schemas.microsoft.com/office/drawing/2014/main" id="{0FCF8D11-7444-249E-44F9-17D83B3BFD13}"/>
              </a:ext>
            </a:extLst>
          </p:cNvPr>
          <p:cNvSpPr>
            <a:spLocks noGrp="1"/>
          </p:cNvSpPr>
          <p:nvPr>
            <p:ph type="title"/>
          </p:nvPr>
        </p:nvSpPr>
        <p:spPr>
          <a:xfrm>
            <a:off x="836613" y="4811175"/>
            <a:ext cx="3266991" cy="308787"/>
          </a:xfrm>
        </p:spPr>
        <p:txBody>
          <a:bodyPr anchor="b"/>
          <a:lstStyle>
            <a:lvl1pPr algn="ctr">
              <a:defRPr sz="1400" b="1">
                <a:solidFill>
                  <a:srgbClr val="FF000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1" name="Text Placeholder 3">
            <a:extLst>
              <a:ext uri="{FF2B5EF4-FFF2-40B4-BE49-F238E27FC236}">
                <a16:creationId xmlns:a16="http://schemas.microsoft.com/office/drawing/2014/main" id="{034D835E-6750-F83B-340D-25255DC70B87}"/>
              </a:ext>
            </a:extLst>
          </p:cNvPr>
          <p:cNvSpPr>
            <a:spLocks noGrp="1"/>
          </p:cNvSpPr>
          <p:nvPr>
            <p:ph type="body" sz="half" idx="2"/>
          </p:nvPr>
        </p:nvSpPr>
        <p:spPr>
          <a:xfrm>
            <a:off x="839788" y="5330794"/>
            <a:ext cx="3266991" cy="1058779"/>
          </a:xfrm>
        </p:spPr>
        <p:txBody>
          <a:bodyPr/>
          <a:lstStyle>
            <a:lvl1pPr marL="0" indent="0">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5" name="Picture Placeholder 2">
            <a:extLst>
              <a:ext uri="{FF2B5EF4-FFF2-40B4-BE49-F238E27FC236}">
                <a16:creationId xmlns:a16="http://schemas.microsoft.com/office/drawing/2014/main" id="{E2C22E91-02D3-8F31-B4E0-6A64D20A521E}"/>
              </a:ext>
            </a:extLst>
          </p:cNvPr>
          <p:cNvSpPr>
            <a:spLocks noGrp="1"/>
          </p:cNvSpPr>
          <p:nvPr>
            <p:ph type="pic" idx="14"/>
          </p:nvPr>
        </p:nvSpPr>
        <p:spPr>
          <a:xfrm>
            <a:off x="4460917" y="1523999"/>
            <a:ext cx="3270166" cy="27986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7" name="Text Placeholder 3">
            <a:extLst>
              <a:ext uri="{FF2B5EF4-FFF2-40B4-BE49-F238E27FC236}">
                <a16:creationId xmlns:a16="http://schemas.microsoft.com/office/drawing/2014/main" id="{129CEAC1-46F5-815C-3497-2ACF958A0DF8}"/>
              </a:ext>
            </a:extLst>
          </p:cNvPr>
          <p:cNvSpPr>
            <a:spLocks noGrp="1"/>
          </p:cNvSpPr>
          <p:nvPr>
            <p:ph type="body" sz="half" idx="15"/>
          </p:nvPr>
        </p:nvSpPr>
        <p:spPr>
          <a:xfrm>
            <a:off x="4464092" y="5330794"/>
            <a:ext cx="3266991" cy="1058779"/>
          </a:xfrm>
        </p:spPr>
        <p:txBody>
          <a:bodyPr/>
          <a:lstStyle>
            <a:lvl1pPr marL="0" indent="0">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8" name="Picture Placeholder 2">
            <a:extLst>
              <a:ext uri="{FF2B5EF4-FFF2-40B4-BE49-F238E27FC236}">
                <a16:creationId xmlns:a16="http://schemas.microsoft.com/office/drawing/2014/main" id="{F675A836-1115-6D82-3F41-8C6AF1CC79AF}"/>
              </a:ext>
            </a:extLst>
          </p:cNvPr>
          <p:cNvSpPr>
            <a:spLocks noGrp="1"/>
          </p:cNvSpPr>
          <p:nvPr>
            <p:ph type="pic" idx="16"/>
          </p:nvPr>
        </p:nvSpPr>
        <p:spPr>
          <a:xfrm>
            <a:off x="8082046" y="1523999"/>
            <a:ext cx="3270166" cy="27986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0" name="Text Placeholder 3">
            <a:extLst>
              <a:ext uri="{FF2B5EF4-FFF2-40B4-BE49-F238E27FC236}">
                <a16:creationId xmlns:a16="http://schemas.microsoft.com/office/drawing/2014/main" id="{43FCEF60-6D96-D527-5618-F93B90DCBF43}"/>
              </a:ext>
            </a:extLst>
          </p:cNvPr>
          <p:cNvSpPr>
            <a:spLocks noGrp="1"/>
          </p:cNvSpPr>
          <p:nvPr>
            <p:ph type="body" sz="half" idx="17"/>
          </p:nvPr>
        </p:nvSpPr>
        <p:spPr>
          <a:xfrm>
            <a:off x="8085221" y="5330794"/>
            <a:ext cx="3266991" cy="1058779"/>
          </a:xfrm>
        </p:spPr>
        <p:txBody>
          <a:bodyPr/>
          <a:lstStyle>
            <a:lvl1pPr marL="0" indent="0">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1" name="Text Placeholder 3">
            <a:extLst>
              <a:ext uri="{FF2B5EF4-FFF2-40B4-BE49-F238E27FC236}">
                <a16:creationId xmlns:a16="http://schemas.microsoft.com/office/drawing/2014/main" id="{F9615DF8-93D1-5F0B-5BBA-1F0FECAF4C88}"/>
              </a:ext>
            </a:extLst>
          </p:cNvPr>
          <p:cNvSpPr>
            <a:spLocks noGrp="1"/>
          </p:cNvSpPr>
          <p:nvPr>
            <p:ph type="body" sz="half" idx="18"/>
          </p:nvPr>
        </p:nvSpPr>
        <p:spPr>
          <a:xfrm>
            <a:off x="836613" y="586607"/>
            <a:ext cx="4803631" cy="448835"/>
          </a:xfrm>
        </p:spPr>
        <p:txBody>
          <a:bodyPr/>
          <a:lstStyle>
            <a:lvl1pPr marL="0" indent="0">
              <a:buNone/>
              <a:defRPr sz="2400" b="1" u="sng">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4005860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8E29E-A32D-4C70-AFCC-EA785A9D9C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E5B768-1857-7244-498D-7489B51A53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9DD669-7AA7-39E0-5B40-C5EFA7CAF691}"/>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5" name="Footer Placeholder 4">
            <a:extLst>
              <a:ext uri="{FF2B5EF4-FFF2-40B4-BE49-F238E27FC236}">
                <a16:creationId xmlns:a16="http://schemas.microsoft.com/office/drawing/2014/main" id="{ED03A344-C3A0-040A-D734-0B75DB8E14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353F77-9BD2-A2E4-CEE9-42F9BAB30989}"/>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157480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589C3-C211-F356-603C-1A73E93407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277DBB-E12E-3F00-4391-489564E10A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DBA2B1-EAF4-AA69-6F88-20A6DDB5A0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9E36E0-6B1F-E8CA-77C6-C61256765863}"/>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6" name="Footer Placeholder 5">
            <a:extLst>
              <a:ext uri="{FF2B5EF4-FFF2-40B4-BE49-F238E27FC236}">
                <a16:creationId xmlns:a16="http://schemas.microsoft.com/office/drawing/2014/main" id="{AAC0DCF2-AE79-1FD9-29CE-73463ECA0A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B4D87-97B8-8F8E-995F-DA077A35B8FD}"/>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3460860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E2D1-1DA1-72C1-8CDB-257FDBC177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23524B-290D-6642-4C06-8CB19E12EE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9D8985-E6B9-885A-4E87-D9E9063ECB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E18FE0-E176-170E-5F12-2083D5CFD1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405964-1091-73C1-2085-8DAC2C328B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152446-448A-C35D-60C6-CA573A37B33B}"/>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8" name="Footer Placeholder 7">
            <a:extLst>
              <a:ext uri="{FF2B5EF4-FFF2-40B4-BE49-F238E27FC236}">
                <a16:creationId xmlns:a16="http://schemas.microsoft.com/office/drawing/2014/main" id="{FFBC99FF-E680-7BDC-0189-8744EB447B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DEB9B3-A386-0A02-B064-08C29ABFB45C}"/>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2684122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85708-A81A-39A2-1E1D-6622374093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CE4CA9-7605-2A82-D57B-ADE3100A13E4}"/>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4" name="Footer Placeholder 3">
            <a:extLst>
              <a:ext uri="{FF2B5EF4-FFF2-40B4-BE49-F238E27FC236}">
                <a16:creationId xmlns:a16="http://schemas.microsoft.com/office/drawing/2014/main" id="{64720B09-9AA4-ADE6-E934-9F740CE642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610295-3CA9-976D-5D00-4EC5216E7945}"/>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3700165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4BA1E3-67E5-1208-C63B-7FC5D4602591}"/>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3" name="Footer Placeholder 2">
            <a:extLst>
              <a:ext uri="{FF2B5EF4-FFF2-40B4-BE49-F238E27FC236}">
                <a16:creationId xmlns:a16="http://schemas.microsoft.com/office/drawing/2014/main" id="{3CFE9482-B1EF-2ADF-C484-D5A1F092E1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652D9E-9DA7-3E33-2C8D-448005276E45}"/>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3164169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0D5CC-18ED-5977-A98C-976AF1939E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4EBF10-6D44-7CF0-7B20-1193796E61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945AB4-DEEE-84AB-DC73-AD11865239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F6A44E-90F3-3073-A754-3095D68B182C}"/>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6" name="Footer Placeholder 5">
            <a:extLst>
              <a:ext uri="{FF2B5EF4-FFF2-40B4-BE49-F238E27FC236}">
                <a16:creationId xmlns:a16="http://schemas.microsoft.com/office/drawing/2014/main" id="{DA4DA37F-D57C-3E4E-A8A7-71B1055E3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10CC00-5035-A017-F3E2-694AA10D0CE1}"/>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807030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55797-F714-E12D-FD56-F57DE62FD5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393441-E98B-5666-02F6-D6D1AC5ED8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9B5C7F-44D1-E636-8DF3-03FE3D79C2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A8EDB7-A10D-D118-7F2A-0AA8166A444A}"/>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6" name="Footer Placeholder 5">
            <a:extLst>
              <a:ext uri="{FF2B5EF4-FFF2-40B4-BE49-F238E27FC236}">
                <a16:creationId xmlns:a16="http://schemas.microsoft.com/office/drawing/2014/main" id="{033B0D89-81A7-34B7-A0DC-A38E79BB53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5AD005-7304-62BA-4A13-F18EC23D8053}"/>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2382403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8DA7-191E-1BF1-0A26-3DF9C7C181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AACB2-140C-C7BA-8686-AE3B1D7DD5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199BC8-53AA-23A1-17B0-AAE71E52FA66}"/>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5" name="Footer Placeholder 4">
            <a:extLst>
              <a:ext uri="{FF2B5EF4-FFF2-40B4-BE49-F238E27FC236}">
                <a16:creationId xmlns:a16="http://schemas.microsoft.com/office/drawing/2014/main" id="{745AC798-E888-EBBB-8111-1A411C519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717AA-72AF-BF23-2028-1465EE03D093}"/>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3636375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7D0338-567D-31B0-F316-D2C061E2EF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558879-E4C0-52CB-4414-D870B67DA4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FB1E1-EC33-5924-869A-63D140DFAB01}"/>
              </a:ext>
            </a:extLst>
          </p:cNvPr>
          <p:cNvSpPr>
            <a:spLocks noGrp="1"/>
          </p:cNvSpPr>
          <p:nvPr>
            <p:ph type="dt" sz="half" idx="10"/>
          </p:nvPr>
        </p:nvSpPr>
        <p:spPr/>
        <p:txBody>
          <a:bodyPr/>
          <a:lstStyle/>
          <a:p>
            <a:fld id="{6BCA0ACB-B0A0-4AA3-9845-9F8FCF69CD96}" type="datetimeFigureOut">
              <a:rPr lang="en-US" smtClean="0"/>
              <a:t>3/11/2026</a:t>
            </a:fld>
            <a:endParaRPr lang="en-US"/>
          </a:p>
        </p:txBody>
      </p:sp>
      <p:sp>
        <p:nvSpPr>
          <p:cNvPr id="5" name="Footer Placeholder 4">
            <a:extLst>
              <a:ext uri="{FF2B5EF4-FFF2-40B4-BE49-F238E27FC236}">
                <a16:creationId xmlns:a16="http://schemas.microsoft.com/office/drawing/2014/main" id="{610E4150-7D18-0B76-B783-E94E42DF81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0F141-6BFC-AAB2-1326-987F8D67AA51}"/>
              </a:ext>
            </a:extLst>
          </p:cNvPr>
          <p:cNvSpPr>
            <a:spLocks noGrp="1"/>
          </p:cNvSpPr>
          <p:nvPr>
            <p:ph type="sldNum" sz="quarter" idx="12"/>
          </p:nvPr>
        </p:nvSpPr>
        <p:spPr/>
        <p:txBody>
          <a:bodyPr/>
          <a:lstStyle/>
          <a:p>
            <a:fld id="{1A7914E2-7EBE-4AC7-A539-32C1B2963416}" type="slidenum">
              <a:rPr lang="en-US" smtClean="0"/>
              <a:t>‹#›</a:t>
            </a:fld>
            <a:endParaRPr lang="en-US"/>
          </a:p>
        </p:txBody>
      </p:sp>
    </p:spTree>
    <p:extLst>
      <p:ext uri="{BB962C8B-B14F-4D97-AF65-F5344CB8AC3E}">
        <p14:creationId xmlns:p14="http://schemas.microsoft.com/office/powerpoint/2010/main" val="2924634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D24C4A-51E6-41B8-39CA-58F66DA6AE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1FC267-FC24-3A26-C287-3E8FB1D37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8F8CD5-FD73-D272-37BA-5D446AFC9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CA0ACB-B0A0-4AA3-9845-9F8FCF69CD96}" type="datetimeFigureOut">
              <a:rPr lang="en-US" smtClean="0"/>
              <a:t>3/11/2026</a:t>
            </a:fld>
            <a:endParaRPr lang="en-US"/>
          </a:p>
        </p:txBody>
      </p:sp>
      <p:sp>
        <p:nvSpPr>
          <p:cNvPr id="5" name="Footer Placeholder 4">
            <a:extLst>
              <a:ext uri="{FF2B5EF4-FFF2-40B4-BE49-F238E27FC236}">
                <a16:creationId xmlns:a16="http://schemas.microsoft.com/office/drawing/2014/main" id="{8370738F-858B-1BA2-B19A-F5AFBB96A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C22BA78-D07C-BF1B-A754-0F8C72EBC2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7914E2-7EBE-4AC7-A539-32C1B2963416}" type="slidenum">
              <a:rPr lang="en-US" smtClean="0"/>
              <a:t>‹#›</a:t>
            </a:fld>
            <a:endParaRPr lang="en-US"/>
          </a:p>
        </p:txBody>
      </p:sp>
      <p:pic>
        <p:nvPicPr>
          <p:cNvPr id="10" name="Google Shape;208;p37">
            <a:extLst>
              <a:ext uri="{FF2B5EF4-FFF2-40B4-BE49-F238E27FC236}">
                <a16:creationId xmlns:a16="http://schemas.microsoft.com/office/drawing/2014/main" id="{56BDE92D-1534-4685-706B-A65DC5985BA9}"/>
              </a:ext>
            </a:extLst>
          </p:cNvPr>
          <p:cNvPicPr preferRelativeResize="0"/>
          <p:nvPr userDrawn="1"/>
        </p:nvPicPr>
        <p:blipFill>
          <a:blip r:embed="rId13">
            <a:alphaModFix/>
          </a:blip>
          <a:srcRect l="15400" r="64998"/>
          <a:stretch>
            <a:fillRect/>
          </a:stretch>
        </p:blipFill>
        <p:spPr>
          <a:xfrm rot="5400000">
            <a:off x="5861786" y="-5373588"/>
            <a:ext cx="468428" cy="11207552"/>
          </a:xfrm>
          <a:prstGeom prst="rect">
            <a:avLst/>
          </a:prstGeom>
          <a:noFill/>
          <a:ln>
            <a:noFill/>
          </a:ln>
        </p:spPr>
      </p:pic>
    </p:spTree>
    <p:extLst>
      <p:ext uri="{BB962C8B-B14F-4D97-AF65-F5344CB8AC3E}">
        <p14:creationId xmlns:p14="http://schemas.microsoft.com/office/powerpoint/2010/main" val="46292362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1.xml"/><Relationship Id="rId4" Type="http://schemas.openxmlformats.org/officeDocument/2006/relationships/image" Target="../media/image29.jpg"/></Relationships>
</file>

<file path=ppt/slides/_rels/slide1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EB454E9-5B4A-7C56-A0D7-E0262ECADBAF}"/>
              </a:ext>
            </a:extLst>
          </p:cNvPr>
          <p:cNvSpPr>
            <a:spLocks noGrp="1"/>
          </p:cNvSpPr>
          <p:nvPr>
            <p:ph type="body" sz="half" idx="15"/>
          </p:nvPr>
        </p:nvSpPr>
        <p:spPr/>
        <p:txBody>
          <a:bodyPr/>
          <a:lstStyle/>
          <a:p>
            <a:r>
              <a:rPr lang="en-US" dirty="0"/>
              <a:t>CASE STUDY</a:t>
            </a:r>
          </a:p>
        </p:txBody>
      </p:sp>
      <p:sp>
        <p:nvSpPr>
          <p:cNvPr id="16" name="Text Placeholder 15">
            <a:extLst>
              <a:ext uri="{FF2B5EF4-FFF2-40B4-BE49-F238E27FC236}">
                <a16:creationId xmlns:a16="http://schemas.microsoft.com/office/drawing/2014/main" id="{C210DC45-FDE2-F669-F938-B397DECE5AAA}"/>
              </a:ext>
            </a:extLst>
          </p:cNvPr>
          <p:cNvSpPr>
            <a:spLocks noGrp="1"/>
          </p:cNvSpPr>
          <p:nvPr>
            <p:ph type="body" sz="half" idx="14"/>
          </p:nvPr>
        </p:nvSpPr>
        <p:spPr>
          <a:xfrm>
            <a:off x="6548352" y="2453640"/>
            <a:ext cx="4803631" cy="3581400"/>
          </a:xfrm>
        </p:spPr>
        <p:txBody>
          <a:bodyPr>
            <a:normAutofit/>
          </a:bodyPr>
          <a:lstStyle/>
          <a:p>
            <a:pPr algn="just"/>
            <a:r>
              <a:rPr lang="en-US" dirty="0"/>
              <a:t>2/ Secondly, customers would like to know when and where is their products, giving them full visibility of order status. They normally place an order, then wait for some days for the trucks to arrive. The only way for them to push for a date is to call Customer Service team, which is not convenient to them.</a:t>
            </a:r>
          </a:p>
          <a:p>
            <a:pPr algn="just"/>
            <a:r>
              <a:rPr lang="en-US" dirty="0"/>
              <a:t>3/ The third biggest problems raised is Late Deliveries. 50% of the answers said that they don’t receive the products within their expected lead-time. The offloading of the trucks at their premises is also being raised. They have to arrange loaders to always at their side waiting for the trucks, therefore, they can only </a:t>
            </a:r>
            <a:r>
              <a:rPr lang="en-US" dirty="0" err="1"/>
              <a:t>affort</a:t>
            </a:r>
            <a:r>
              <a:rPr lang="en-US" dirty="0"/>
              <a:t> to have 1-2 people maximum. As a result, it takes them more than 2 hours to fully offload. </a:t>
            </a:r>
          </a:p>
          <a:p>
            <a:pPr algn="just"/>
            <a:r>
              <a:rPr lang="en-US" dirty="0"/>
              <a:t>4/ Last but not least, product damage is also one of their concerns. The bad goods ratio that they have to bear is 2%, which is abnormal compared versus 0.2% of last year. </a:t>
            </a:r>
          </a:p>
        </p:txBody>
      </p:sp>
      <p:sp>
        <p:nvSpPr>
          <p:cNvPr id="4" name="Text Placeholder 15">
            <a:extLst>
              <a:ext uri="{FF2B5EF4-FFF2-40B4-BE49-F238E27FC236}">
                <a16:creationId xmlns:a16="http://schemas.microsoft.com/office/drawing/2014/main" id="{2F28625E-56C5-591A-2946-EFE891C3ED2A}"/>
              </a:ext>
            </a:extLst>
          </p:cNvPr>
          <p:cNvSpPr txBox="1">
            <a:spLocks/>
          </p:cNvSpPr>
          <p:nvPr/>
        </p:nvSpPr>
        <p:spPr>
          <a:xfrm>
            <a:off x="840017" y="2453640"/>
            <a:ext cx="4803631" cy="35814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just"/>
            <a:r>
              <a:rPr lang="en-US" dirty="0"/>
              <a:t>Market A launched a survey to get Customer Feedback. The response rate is only  60%. For the customers that provide the feedback, there are a lot of problems raised:</a:t>
            </a:r>
          </a:p>
          <a:p>
            <a:pPr algn="just"/>
            <a:r>
              <a:rPr lang="en-US" dirty="0"/>
              <a:t>1/ Many customers complain on the lack of communication on Out Of Stock/Short stock situation. They mention that they only realize the short of the stock when the trucks arrive at their place, without any prior notice as well as alignment. Also, they don’t want that problem happening too often like that as it will impact their sales plan of the month. The team has discussed about this feedback and realize that their internal KPI of COF is only </a:t>
            </a:r>
            <a:r>
              <a:rPr lang="en-US" b="1" dirty="0"/>
              <a:t>75%.</a:t>
            </a:r>
          </a:p>
          <a:p>
            <a:pPr marL="171450" indent="-171450" algn="just">
              <a:buFont typeface="Arial" panose="020B0604020202020204" pitchFamily="34" charset="0"/>
              <a:buChar char="•"/>
            </a:pPr>
            <a:r>
              <a:rPr lang="en-US" dirty="0"/>
              <a:t>Truck and vessel delays caused late delivery of 50,000 cases to stocks</a:t>
            </a:r>
          </a:p>
          <a:p>
            <a:pPr marL="171450" indent="-171450" algn="just">
              <a:buFont typeface="Arial" panose="020B0604020202020204" pitchFamily="34" charset="0"/>
              <a:buChar char="•"/>
            </a:pPr>
            <a:r>
              <a:rPr lang="en-US" dirty="0"/>
              <a:t>Packaging material delays caused delays in planned production for 3  days 20,000 cases</a:t>
            </a:r>
          </a:p>
          <a:p>
            <a:pPr marL="171450" indent="-171450" algn="just">
              <a:buFont typeface="Arial" panose="020B0604020202020204" pitchFamily="34" charset="0"/>
              <a:buChar char="•"/>
            </a:pPr>
            <a:r>
              <a:rPr lang="en-US" dirty="0"/>
              <a:t>Production interruption of 15,000 cases due to raw and pack material unavailability</a:t>
            </a:r>
          </a:p>
          <a:p>
            <a:r>
              <a:rPr lang="en-US" i="1" dirty="0"/>
              <a:t>COF: Customer Order Fulfillment</a:t>
            </a:r>
          </a:p>
        </p:txBody>
      </p:sp>
      <p:sp>
        <p:nvSpPr>
          <p:cNvPr id="5" name="Text Placeholder 6">
            <a:extLst>
              <a:ext uri="{FF2B5EF4-FFF2-40B4-BE49-F238E27FC236}">
                <a16:creationId xmlns:a16="http://schemas.microsoft.com/office/drawing/2014/main" id="{ECF4D941-0127-75B7-F4ED-738294493A6A}"/>
              </a:ext>
            </a:extLst>
          </p:cNvPr>
          <p:cNvSpPr txBox="1">
            <a:spLocks/>
          </p:cNvSpPr>
          <p:nvPr/>
        </p:nvSpPr>
        <p:spPr>
          <a:xfrm>
            <a:off x="836612" y="1684421"/>
            <a:ext cx="4803631" cy="76922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sz="1400" dirty="0">
                <a:solidFill>
                  <a:srgbClr val="FF0000"/>
                </a:solidFill>
              </a:rPr>
              <a:t>NESTLÉ SUMMER SCHOOL 2023</a:t>
            </a:r>
          </a:p>
          <a:p>
            <a:r>
              <a:rPr lang="en-US" sz="1400" dirty="0">
                <a:solidFill>
                  <a:srgbClr val="FF0000"/>
                </a:solidFill>
              </a:rPr>
              <a:t>SUPPLY CHAIN FUNCTION – FINAL TEST</a:t>
            </a:r>
          </a:p>
        </p:txBody>
      </p:sp>
      <p:pic>
        <p:nvPicPr>
          <p:cNvPr id="8" name="Picture 7">
            <a:extLst>
              <a:ext uri="{FF2B5EF4-FFF2-40B4-BE49-F238E27FC236}">
                <a16:creationId xmlns:a16="http://schemas.microsoft.com/office/drawing/2014/main" id="{8C8A2410-B458-2CF4-F034-39E8385710DA}"/>
              </a:ext>
            </a:extLst>
          </p:cNvPr>
          <p:cNvPicPr>
            <a:picLocks noChangeAspect="1"/>
          </p:cNvPicPr>
          <p:nvPr/>
        </p:nvPicPr>
        <p:blipFill>
          <a:blip r:embed="rId2"/>
          <a:stretch>
            <a:fillRect/>
          </a:stretch>
        </p:blipFill>
        <p:spPr>
          <a:xfrm>
            <a:off x="6946144" y="1122436"/>
            <a:ext cx="2009053" cy="1123963"/>
          </a:xfrm>
          <a:prstGeom prst="rect">
            <a:avLst/>
          </a:prstGeom>
        </p:spPr>
      </p:pic>
      <p:pic>
        <p:nvPicPr>
          <p:cNvPr id="12" name="Picture 11">
            <a:extLst>
              <a:ext uri="{FF2B5EF4-FFF2-40B4-BE49-F238E27FC236}">
                <a16:creationId xmlns:a16="http://schemas.microsoft.com/office/drawing/2014/main" id="{6B6B0E61-72EE-9BA0-D39C-130024CC5B71}"/>
              </a:ext>
            </a:extLst>
          </p:cNvPr>
          <p:cNvPicPr>
            <a:picLocks noChangeAspect="1"/>
          </p:cNvPicPr>
          <p:nvPr/>
        </p:nvPicPr>
        <p:blipFill>
          <a:blip r:embed="rId3"/>
          <a:stretch>
            <a:fillRect/>
          </a:stretch>
        </p:blipFill>
        <p:spPr>
          <a:xfrm>
            <a:off x="7950671" y="1122437"/>
            <a:ext cx="2006538" cy="1123963"/>
          </a:xfrm>
          <a:prstGeom prst="rect">
            <a:avLst/>
          </a:prstGeom>
        </p:spPr>
      </p:pic>
      <p:pic>
        <p:nvPicPr>
          <p:cNvPr id="14" name="Picture 13">
            <a:extLst>
              <a:ext uri="{FF2B5EF4-FFF2-40B4-BE49-F238E27FC236}">
                <a16:creationId xmlns:a16="http://schemas.microsoft.com/office/drawing/2014/main" id="{B46A9C91-9979-8DE2-1B07-214C0897D77E}"/>
              </a:ext>
            </a:extLst>
          </p:cNvPr>
          <p:cNvPicPr>
            <a:picLocks noChangeAspect="1"/>
          </p:cNvPicPr>
          <p:nvPr/>
        </p:nvPicPr>
        <p:blipFill>
          <a:blip r:embed="rId4"/>
          <a:stretch>
            <a:fillRect/>
          </a:stretch>
        </p:blipFill>
        <p:spPr>
          <a:xfrm>
            <a:off x="8960227" y="1122436"/>
            <a:ext cx="2001509" cy="1123963"/>
          </a:xfrm>
          <a:prstGeom prst="rect">
            <a:avLst/>
          </a:prstGeom>
        </p:spPr>
      </p:pic>
    </p:spTree>
    <p:extLst>
      <p:ext uri="{BB962C8B-B14F-4D97-AF65-F5344CB8AC3E}">
        <p14:creationId xmlns:p14="http://schemas.microsoft.com/office/powerpoint/2010/main" val="587517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8CA1762C-AED0-A38A-CBA4-BFB4F54BD778}"/>
              </a:ext>
            </a:extLst>
          </p:cNvPr>
          <p:cNvPicPr>
            <a:picLocks noGrp="1" noChangeAspect="1"/>
          </p:cNvPicPr>
          <p:nvPr>
            <p:ph type="pic" idx="1"/>
          </p:nvPr>
        </p:nvPicPr>
        <p:blipFill rotWithShape="1">
          <a:blip r:embed="rId2"/>
          <a:srcRect l="-12326" r="-12326"/>
          <a:stretch>
            <a:fillRect/>
          </a:stretch>
        </p:blipFill>
        <p:spPr>
          <a:prstGeom prst="rect">
            <a:avLst/>
          </a:prstGeom>
        </p:spPr>
      </p:pic>
      <p:pic>
        <p:nvPicPr>
          <p:cNvPr id="9" name="Picture Placeholder 8">
            <a:extLst>
              <a:ext uri="{FF2B5EF4-FFF2-40B4-BE49-F238E27FC236}">
                <a16:creationId xmlns:a16="http://schemas.microsoft.com/office/drawing/2014/main" id="{A0BE3E29-D07C-6953-9E6C-C732F0B4A3F0}"/>
              </a:ext>
            </a:extLst>
          </p:cNvPr>
          <p:cNvPicPr>
            <a:picLocks noGrp="1" noChangeAspect="1"/>
          </p:cNvPicPr>
          <p:nvPr>
            <p:ph type="pic" idx="13"/>
          </p:nvPr>
        </p:nvPicPr>
        <p:blipFill rotWithShape="1">
          <a:blip r:embed="rId3"/>
          <a:srcRect t="-16925" b="-16925"/>
          <a:stretch>
            <a:fillRect/>
          </a:stretch>
        </p:blipFill>
        <p:spPr>
          <a:prstGeom prst="rect">
            <a:avLst/>
          </a:prstGeom>
        </p:spPr>
      </p:pic>
      <p:sp>
        <p:nvSpPr>
          <p:cNvPr id="4" name="Title 3">
            <a:extLst>
              <a:ext uri="{FF2B5EF4-FFF2-40B4-BE49-F238E27FC236}">
                <a16:creationId xmlns:a16="http://schemas.microsoft.com/office/drawing/2014/main" id="{D14F46FC-E823-2020-B317-66FC2CC0C9A3}"/>
              </a:ext>
            </a:extLst>
          </p:cNvPr>
          <p:cNvSpPr>
            <a:spLocks noGrp="1"/>
          </p:cNvSpPr>
          <p:nvPr>
            <p:ph type="title"/>
          </p:nvPr>
        </p:nvSpPr>
        <p:spPr/>
        <p:txBody>
          <a:bodyPr/>
          <a:lstStyle/>
          <a:p>
            <a:r>
              <a:rPr lang="en-US" dirty="0"/>
              <a:t>Requirements</a:t>
            </a:r>
          </a:p>
        </p:txBody>
      </p:sp>
      <p:sp>
        <p:nvSpPr>
          <p:cNvPr id="5" name="Text Placeholder 4">
            <a:extLst>
              <a:ext uri="{FF2B5EF4-FFF2-40B4-BE49-F238E27FC236}">
                <a16:creationId xmlns:a16="http://schemas.microsoft.com/office/drawing/2014/main" id="{44E9D1D4-9941-7284-F1A2-F3CC53FD645D}"/>
              </a:ext>
            </a:extLst>
          </p:cNvPr>
          <p:cNvSpPr>
            <a:spLocks noGrp="1"/>
          </p:cNvSpPr>
          <p:nvPr>
            <p:ph type="body" sz="half" idx="2"/>
          </p:nvPr>
        </p:nvSpPr>
        <p:spPr/>
        <p:txBody>
          <a:bodyPr/>
          <a:lstStyle/>
          <a:p>
            <a:pPr algn="ctr"/>
            <a:r>
              <a:rPr lang="en-US" dirty="0"/>
              <a:t>The main purpose of this case that how to </a:t>
            </a:r>
            <a:r>
              <a:rPr lang="en-US" b="1" dirty="0"/>
              <a:t>improve %Customer Satisfaction.</a:t>
            </a:r>
          </a:p>
        </p:txBody>
      </p:sp>
      <p:sp>
        <p:nvSpPr>
          <p:cNvPr id="6" name="Text Placeholder 5">
            <a:extLst>
              <a:ext uri="{FF2B5EF4-FFF2-40B4-BE49-F238E27FC236}">
                <a16:creationId xmlns:a16="http://schemas.microsoft.com/office/drawing/2014/main" id="{6D8012AB-006F-D21C-882D-DE5C153334A8}"/>
              </a:ext>
            </a:extLst>
          </p:cNvPr>
          <p:cNvSpPr>
            <a:spLocks noGrp="1"/>
          </p:cNvSpPr>
          <p:nvPr>
            <p:ph type="body" sz="half" idx="14"/>
          </p:nvPr>
        </p:nvSpPr>
        <p:spPr/>
        <p:txBody>
          <a:bodyPr>
            <a:normAutofit/>
          </a:bodyPr>
          <a:lstStyle/>
          <a:p>
            <a:pPr algn="ctr"/>
            <a:r>
              <a:rPr lang="en-US" dirty="0"/>
              <a:t>According to case study, there are four criteria with ranking category from more to less importance. Current information:</a:t>
            </a:r>
          </a:p>
          <a:p>
            <a:pPr algn="ctr"/>
            <a:r>
              <a:rPr lang="en-US" b="1" dirty="0"/>
              <a:t>Customer Satisfaction</a:t>
            </a:r>
            <a:r>
              <a:rPr lang="en-US" dirty="0"/>
              <a:t>: 60%, </a:t>
            </a:r>
            <a:r>
              <a:rPr lang="en-US" b="1" dirty="0"/>
              <a:t>COF</a:t>
            </a:r>
            <a:r>
              <a:rPr lang="en-US" dirty="0"/>
              <a:t>: 75%, </a:t>
            </a:r>
            <a:r>
              <a:rPr lang="en-US" b="1" dirty="0"/>
              <a:t>Tracking Solution</a:t>
            </a:r>
            <a:r>
              <a:rPr lang="en-US" dirty="0"/>
              <a:t>: NO</a:t>
            </a:r>
          </a:p>
          <a:p>
            <a:pPr algn="ctr"/>
            <a:r>
              <a:rPr lang="en-US" b="1" dirty="0"/>
              <a:t>Fail Customer’s Lead time</a:t>
            </a:r>
            <a:r>
              <a:rPr lang="en-US" dirty="0"/>
              <a:t>: 50%, </a:t>
            </a:r>
            <a:r>
              <a:rPr lang="en-US" b="1" dirty="0"/>
              <a:t>Product Damaged</a:t>
            </a:r>
            <a:r>
              <a:rPr lang="en-US" dirty="0"/>
              <a:t>: 2%</a:t>
            </a:r>
          </a:p>
          <a:p>
            <a:endParaRPr lang="en-US" dirty="0"/>
          </a:p>
        </p:txBody>
      </p:sp>
      <p:sp>
        <p:nvSpPr>
          <p:cNvPr id="7" name="Text Placeholder 6">
            <a:extLst>
              <a:ext uri="{FF2B5EF4-FFF2-40B4-BE49-F238E27FC236}">
                <a16:creationId xmlns:a16="http://schemas.microsoft.com/office/drawing/2014/main" id="{41EDDAAB-7A46-7724-649C-92423371C303}"/>
              </a:ext>
            </a:extLst>
          </p:cNvPr>
          <p:cNvSpPr>
            <a:spLocks noGrp="1"/>
          </p:cNvSpPr>
          <p:nvPr>
            <p:ph type="body" sz="half" idx="15"/>
          </p:nvPr>
        </p:nvSpPr>
        <p:spPr/>
        <p:txBody>
          <a:bodyPr/>
          <a:lstStyle/>
          <a:p>
            <a:r>
              <a:rPr lang="en-US" dirty="0"/>
              <a:t>EXPLAIN CASE</a:t>
            </a:r>
          </a:p>
        </p:txBody>
      </p:sp>
      <p:sp>
        <p:nvSpPr>
          <p:cNvPr id="12" name="Title 3">
            <a:extLst>
              <a:ext uri="{FF2B5EF4-FFF2-40B4-BE49-F238E27FC236}">
                <a16:creationId xmlns:a16="http://schemas.microsoft.com/office/drawing/2014/main" id="{07A37179-9CAC-B811-9178-8CCBEDEDBF98}"/>
              </a:ext>
            </a:extLst>
          </p:cNvPr>
          <p:cNvSpPr txBox="1">
            <a:spLocks/>
          </p:cNvSpPr>
          <p:nvPr/>
        </p:nvSpPr>
        <p:spPr>
          <a:xfrm>
            <a:off x="6985868" y="4811175"/>
            <a:ext cx="3932237" cy="30878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1400" b="1" kern="1200">
                <a:solidFill>
                  <a:srgbClr val="FF0000"/>
                </a:solidFill>
                <a:latin typeface="Arial" panose="020B0604020202020204" pitchFamily="34" charset="0"/>
                <a:ea typeface="+mj-ea"/>
                <a:cs typeface="Arial" panose="020B0604020202020204" pitchFamily="34" charset="0"/>
              </a:defRPr>
            </a:lvl1pPr>
          </a:lstStyle>
          <a:p>
            <a:r>
              <a:rPr lang="en-US" dirty="0"/>
              <a:t>Structure and Prioritize Problem</a:t>
            </a:r>
          </a:p>
        </p:txBody>
      </p:sp>
    </p:spTree>
    <p:extLst>
      <p:ext uri="{BB962C8B-B14F-4D97-AF65-F5344CB8AC3E}">
        <p14:creationId xmlns:p14="http://schemas.microsoft.com/office/powerpoint/2010/main" val="799978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096E35C5-D007-E9EE-8B13-21BD68DF0514}"/>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33" t="250" r="-33" b="22118"/>
          <a:stretch>
            <a:fillRect/>
          </a:stretch>
        </p:blipFill>
        <p:spPr>
          <a:xfrm>
            <a:off x="6548582" y="1523999"/>
            <a:ext cx="4806806" cy="2798620"/>
          </a:xfrm>
          <a:prstGeom prst="rect">
            <a:avLst/>
          </a:prstGeom>
        </p:spPr>
      </p:pic>
      <p:pic>
        <p:nvPicPr>
          <p:cNvPr id="9" name="Picture Placeholder 8">
            <a:extLst>
              <a:ext uri="{FF2B5EF4-FFF2-40B4-BE49-F238E27FC236}">
                <a16:creationId xmlns:a16="http://schemas.microsoft.com/office/drawing/2014/main" id="{DB42B19E-3EA8-C87D-034E-61213E454322}"/>
              </a:ext>
            </a:extLst>
          </p:cNvPr>
          <p:cNvPicPr>
            <a:picLocks noGrp="1" noChangeAspect="1"/>
          </p:cNvPicPr>
          <p:nvPr>
            <p:ph type="pic" idx="13"/>
          </p:nvPr>
        </p:nvPicPr>
        <p:blipFill rotWithShape="1">
          <a:blip r:embed="rId4">
            <a:extLst>
              <a:ext uri="{28A0092B-C50C-407E-A947-70E740481C1C}">
                <a14:useLocalDpi xmlns:a14="http://schemas.microsoft.com/office/drawing/2010/main" val="0"/>
              </a:ext>
            </a:extLst>
          </a:blip>
          <a:srcRect l="1144" t="-387" r="1080" b="24484"/>
          <a:stretch>
            <a:fillRect/>
          </a:stretch>
        </p:blipFill>
        <p:spPr>
          <a:xfrm>
            <a:off x="836613" y="1523999"/>
            <a:ext cx="4806806" cy="2798619"/>
          </a:xfrm>
          <a:prstGeom prst="rect">
            <a:avLst/>
          </a:prstGeom>
        </p:spPr>
      </p:pic>
      <p:sp>
        <p:nvSpPr>
          <p:cNvPr id="4" name="Title 3">
            <a:extLst>
              <a:ext uri="{FF2B5EF4-FFF2-40B4-BE49-F238E27FC236}">
                <a16:creationId xmlns:a16="http://schemas.microsoft.com/office/drawing/2014/main" id="{E2DCA61D-EFC2-2905-80BF-21A12901C6CE}"/>
              </a:ext>
            </a:extLst>
          </p:cNvPr>
          <p:cNvSpPr>
            <a:spLocks noGrp="1"/>
          </p:cNvSpPr>
          <p:nvPr>
            <p:ph type="title"/>
          </p:nvPr>
        </p:nvSpPr>
        <p:spPr/>
        <p:txBody>
          <a:bodyPr/>
          <a:lstStyle/>
          <a:p>
            <a:r>
              <a:rPr lang="en-US" dirty="0"/>
              <a:t>Suppose Supply Chain Flow</a:t>
            </a:r>
          </a:p>
        </p:txBody>
      </p:sp>
      <p:sp>
        <p:nvSpPr>
          <p:cNvPr id="5" name="Text Placeholder 4">
            <a:extLst>
              <a:ext uri="{FF2B5EF4-FFF2-40B4-BE49-F238E27FC236}">
                <a16:creationId xmlns:a16="http://schemas.microsoft.com/office/drawing/2014/main" id="{71273DCC-7CAE-B96F-C229-F69723269879}"/>
              </a:ext>
            </a:extLst>
          </p:cNvPr>
          <p:cNvSpPr>
            <a:spLocks noGrp="1"/>
          </p:cNvSpPr>
          <p:nvPr>
            <p:ph type="body" sz="half" idx="2"/>
          </p:nvPr>
        </p:nvSpPr>
        <p:spPr/>
        <p:txBody>
          <a:bodyPr>
            <a:noAutofit/>
          </a:bodyPr>
          <a:lstStyle/>
          <a:p>
            <a:pPr marL="228600" indent="-228600">
              <a:buFont typeface="+mj-lt"/>
              <a:buAutoNum type="arabicPeriod"/>
            </a:pPr>
            <a:r>
              <a:rPr lang="en-US" dirty="0"/>
              <a:t>100 Suppliers to Company X in two type material</a:t>
            </a:r>
          </a:p>
          <a:p>
            <a:pPr marL="228600" indent="-228600">
              <a:buFont typeface="+mj-lt"/>
              <a:buAutoNum type="arabicPeriod"/>
            </a:pPr>
            <a:r>
              <a:rPr lang="en-US" dirty="0"/>
              <a:t>4 other Manufactures to Company X in stocks (final products)</a:t>
            </a:r>
          </a:p>
          <a:p>
            <a:pPr marL="228600" indent="-228600">
              <a:buFont typeface="+mj-lt"/>
              <a:buAutoNum type="arabicPeriod"/>
            </a:pPr>
            <a:r>
              <a:rPr lang="en-US" dirty="0"/>
              <a:t>Company X to Retailers</a:t>
            </a:r>
          </a:p>
          <a:p>
            <a:r>
              <a:rPr lang="en-US" i="1" dirty="0"/>
              <a:t>All of shipments were carried by 9 3PLs, Company X paid for them</a:t>
            </a:r>
          </a:p>
        </p:txBody>
      </p:sp>
      <p:sp>
        <p:nvSpPr>
          <p:cNvPr id="6" name="Text Placeholder 5">
            <a:extLst>
              <a:ext uri="{FF2B5EF4-FFF2-40B4-BE49-F238E27FC236}">
                <a16:creationId xmlns:a16="http://schemas.microsoft.com/office/drawing/2014/main" id="{28A8B918-FC71-2182-1D9F-84AD8F92504B}"/>
              </a:ext>
            </a:extLst>
          </p:cNvPr>
          <p:cNvSpPr>
            <a:spLocks noGrp="1"/>
          </p:cNvSpPr>
          <p:nvPr>
            <p:ph type="body" sz="half" idx="14"/>
          </p:nvPr>
        </p:nvSpPr>
        <p:spPr/>
        <p:txBody>
          <a:bodyPr/>
          <a:lstStyle/>
          <a:p>
            <a:pPr algn="ctr"/>
            <a:r>
              <a:rPr lang="en-US" dirty="0"/>
              <a:t>The roots of issue that the quality of supplier products and 3PLs services.</a:t>
            </a:r>
          </a:p>
          <a:p>
            <a:pPr algn="ctr"/>
            <a:r>
              <a:rPr lang="en-US" dirty="0"/>
              <a:t>Suppose we have good suppliers, the main purpose of this case that </a:t>
            </a:r>
            <a:r>
              <a:rPr lang="en-US" b="1" dirty="0"/>
              <a:t>3PLs evaluation</a:t>
            </a:r>
            <a:r>
              <a:rPr lang="en-US" dirty="0"/>
              <a:t>.</a:t>
            </a:r>
          </a:p>
        </p:txBody>
      </p:sp>
      <p:sp>
        <p:nvSpPr>
          <p:cNvPr id="7" name="Text Placeholder 6">
            <a:extLst>
              <a:ext uri="{FF2B5EF4-FFF2-40B4-BE49-F238E27FC236}">
                <a16:creationId xmlns:a16="http://schemas.microsoft.com/office/drawing/2014/main" id="{FE9B51FE-E964-4DDB-343C-2A4BED6FCD1C}"/>
              </a:ext>
            </a:extLst>
          </p:cNvPr>
          <p:cNvSpPr>
            <a:spLocks noGrp="1"/>
          </p:cNvSpPr>
          <p:nvPr>
            <p:ph type="body" sz="half" idx="15"/>
          </p:nvPr>
        </p:nvSpPr>
        <p:spPr/>
        <p:txBody>
          <a:bodyPr/>
          <a:lstStyle/>
          <a:p>
            <a:r>
              <a:rPr lang="en-US" dirty="0"/>
              <a:t>EXPLAIN CASE</a:t>
            </a:r>
          </a:p>
        </p:txBody>
      </p:sp>
      <p:sp>
        <p:nvSpPr>
          <p:cNvPr id="12" name="Title 3">
            <a:extLst>
              <a:ext uri="{FF2B5EF4-FFF2-40B4-BE49-F238E27FC236}">
                <a16:creationId xmlns:a16="http://schemas.microsoft.com/office/drawing/2014/main" id="{6624897C-43C4-8943-9B60-DA5DF69B7F8A}"/>
              </a:ext>
            </a:extLst>
          </p:cNvPr>
          <p:cNvSpPr txBox="1">
            <a:spLocks/>
          </p:cNvSpPr>
          <p:nvPr/>
        </p:nvSpPr>
        <p:spPr>
          <a:xfrm>
            <a:off x="6985868" y="4811175"/>
            <a:ext cx="3932237" cy="30878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1400" b="1" kern="1200">
                <a:solidFill>
                  <a:srgbClr val="FF0000"/>
                </a:solidFill>
                <a:latin typeface="Arial" panose="020B0604020202020204" pitchFamily="34" charset="0"/>
                <a:ea typeface="+mj-ea"/>
                <a:cs typeface="Arial" panose="020B0604020202020204" pitchFamily="34" charset="0"/>
              </a:defRPr>
            </a:lvl1pPr>
          </a:lstStyle>
          <a:p>
            <a:r>
              <a:rPr lang="en-US" dirty="0"/>
              <a:t>Roots of issue</a:t>
            </a:r>
          </a:p>
        </p:txBody>
      </p:sp>
    </p:spTree>
    <p:extLst>
      <p:ext uri="{BB962C8B-B14F-4D97-AF65-F5344CB8AC3E}">
        <p14:creationId xmlns:p14="http://schemas.microsoft.com/office/powerpoint/2010/main" val="1413683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CA45D9E5-E3A0-AB47-FDEA-B418E91A11BB}"/>
              </a:ext>
            </a:extLst>
          </p:cNvPr>
          <p:cNvPicPr>
            <a:picLocks noGrp="1" noChangeAspect="1"/>
          </p:cNvPicPr>
          <p:nvPr>
            <p:ph type="pic" idx="1"/>
          </p:nvPr>
        </p:nvPicPr>
        <p:blipFill rotWithShape="1">
          <a:blip r:embed="rId2"/>
          <a:srcRect l="-8094" r="-8094"/>
          <a:stretch>
            <a:fillRect/>
          </a:stretch>
        </p:blipFill>
        <p:spPr>
          <a:prstGeom prst="rect">
            <a:avLst/>
          </a:prstGeom>
        </p:spPr>
      </p:pic>
      <p:pic>
        <p:nvPicPr>
          <p:cNvPr id="9" name="Picture Placeholder 8">
            <a:extLst>
              <a:ext uri="{FF2B5EF4-FFF2-40B4-BE49-F238E27FC236}">
                <a16:creationId xmlns:a16="http://schemas.microsoft.com/office/drawing/2014/main" id="{36DA5381-7E61-4731-97A0-0C173CE046CD}"/>
              </a:ext>
            </a:extLst>
          </p:cNvPr>
          <p:cNvPicPr>
            <a:picLocks noGrp="1" noChangeAspect="1"/>
          </p:cNvPicPr>
          <p:nvPr>
            <p:ph type="pic" idx="13"/>
          </p:nvPr>
        </p:nvPicPr>
        <p:blipFill rotWithShape="1">
          <a:blip r:embed="rId3"/>
          <a:srcRect l="66" t="-13127" r="-66" b="1"/>
          <a:stretch>
            <a:fillRect/>
          </a:stretch>
        </p:blipFill>
        <p:spPr>
          <a:xfrm>
            <a:off x="836613" y="1523999"/>
            <a:ext cx="4806806" cy="2798619"/>
          </a:xfrm>
          <a:prstGeom prst="rect">
            <a:avLst/>
          </a:prstGeom>
        </p:spPr>
      </p:pic>
      <p:sp>
        <p:nvSpPr>
          <p:cNvPr id="4" name="Title 3">
            <a:extLst>
              <a:ext uri="{FF2B5EF4-FFF2-40B4-BE49-F238E27FC236}">
                <a16:creationId xmlns:a16="http://schemas.microsoft.com/office/drawing/2014/main" id="{243489F7-4DF7-DA83-BA23-4BA76270C43D}"/>
              </a:ext>
            </a:extLst>
          </p:cNvPr>
          <p:cNvSpPr>
            <a:spLocks noGrp="1"/>
          </p:cNvSpPr>
          <p:nvPr>
            <p:ph type="title"/>
          </p:nvPr>
        </p:nvSpPr>
        <p:spPr/>
        <p:txBody>
          <a:bodyPr/>
          <a:lstStyle/>
          <a:p>
            <a:r>
              <a:rPr lang="en-US" dirty="0"/>
              <a:t>Created 2025 Simulation Dataset</a:t>
            </a:r>
          </a:p>
        </p:txBody>
      </p:sp>
      <p:sp>
        <p:nvSpPr>
          <p:cNvPr id="5" name="Text Placeholder 4">
            <a:extLst>
              <a:ext uri="{FF2B5EF4-FFF2-40B4-BE49-F238E27FC236}">
                <a16:creationId xmlns:a16="http://schemas.microsoft.com/office/drawing/2014/main" id="{1B371CF6-399A-E7E5-6E20-3D13FD9452FA}"/>
              </a:ext>
            </a:extLst>
          </p:cNvPr>
          <p:cNvSpPr>
            <a:spLocks noGrp="1"/>
          </p:cNvSpPr>
          <p:nvPr>
            <p:ph type="body" sz="half" idx="2"/>
          </p:nvPr>
        </p:nvSpPr>
        <p:spPr/>
        <p:txBody>
          <a:bodyPr/>
          <a:lstStyle/>
          <a:p>
            <a:pPr algn="ctr"/>
            <a:r>
              <a:rPr lang="en-US" dirty="0"/>
              <a:t>To give a clear research method, I decided to create 8 datasets to records the case study clues</a:t>
            </a:r>
          </a:p>
        </p:txBody>
      </p:sp>
      <p:sp>
        <p:nvSpPr>
          <p:cNvPr id="6" name="Text Placeholder 5">
            <a:extLst>
              <a:ext uri="{FF2B5EF4-FFF2-40B4-BE49-F238E27FC236}">
                <a16:creationId xmlns:a16="http://schemas.microsoft.com/office/drawing/2014/main" id="{ABD32977-22C0-3FEB-895F-24AEFC526075}"/>
              </a:ext>
            </a:extLst>
          </p:cNvPr>
          <p:cNvSpPr>
            <a:spLocks noGrp="1"/>
          </p:cNvSpPr>
          <p:nvPr>
            <p:ph type="body" sz="half" idx="14"/>
          </p:nvPr>
        </p:nvSpPr>
        <p:spPr/>
        <p:txBody>
          <a:bodyPr/>
          <a:lstStyle/>
          <a:p>
            <a:pPr algn="ctr"/>
            <a:r>
              <a:rPr lang="en-US" dirty="0"/>
              <a:t>According to basic information of dataset, there are relationship of 8 datasets that were set up on Power BI.</a:t>
            </a:r>
          </a:p>
        </p:txBody>
      </p:sp>
      <p:sp>
        <p:nvSpPr>
          <p:cNvPr id="7" name="Text Placeholder 6">
            <a:extLst>
              <a:ext uri="{FF2B5EF4-FFF2-40B4-BE49-F238E27FC236}">
                <a16:creationId xmlns:a16="http://schemas.microsoft.com/office/drawing/2014/main" id="{E048B1E5-7E2C-E1D2-D09C-D87B4E232F87}"/>
              </a:ext>
            </a:extLst>
          </p:cNvPr>
          <p:cNvSpPr>
            <a:spLocks noGrp="1"/>
          </p:cNvSpPr>
          <p:nvPr>
            <p:ph type="body" sz="half" idx="15"/>
          </p:nvPr>
        </p:nvSpPr>
        <p:spPr/>
        <p:txBody>
          <a:bodyPr/>
          <a:lstStyle/>
          <a:p>
            <a:r>
              <a:rPr lang="en-US" dirty="0"/>
              <a:t>DESCRIPTIVE</a:t>
            </a:r>
          </a:p>
        </p:txBody>
      </p:sp>
      <p:sp>
        <p:nvSpPr>
          <p:cNvPr id="12" name="Title 3">
            <a:extLst>
              <a:ext uri="{FF2B5EF4-FFF2-40B4-BE49-F238E27FC236}">
                <a16:creationId xmlns:a16="http://schemas.microsoft.com/office/drawing/2014/main" id="{08F18E17-F5F6-BD4A-A36E-72BFF2BA9BFC}"/>
              </a:ext>
            </a:extLst>
          </p:cNvPr>
          <p:cNvSpPr txBox="1">
            <a:spLocks/>
          </p:cNvSpPr>
          <p:nvPr/>
        </p:nvSpPr>
        <p:spPr>
          <a:xfrm>
            <a:off x="6985868" y="4811175"/>
            <a:ext cx="3932237" cy="30878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1400" b="1" kern="1200">
                <a:solidFill>
                  <a:srgbClr val="FF0000"/>
                </a:solidFill>
                <a:latin typeface="Arial" panose="020B0604020202020204" pitchFamily="34" charset="0"/>
                <a:ea typeface="+mj-ea"/>
                <a:cs typeface="Arial" panose="020B0604020202020204" pitchFamily="34" charset="0"/>
              </a:defRPr>
            </a:lvl1pPr>
          </a:lstStyle>
          <a:p>
            <a:r>
              <a:rPr lang="en-US" dirty="0"/>
              <a:t>Make Relationship</a:t>
            </a:r>
          </a:p>
        </p:txBody>
      </p:sp>
      <p:pic>
        <p:nvPicPr>
          <p:cNvPr id="3" name="Picture 2">
            <a:extLst>
              <a:ext uri="{FF2B5EF4-FFF2-40B4-BE49-F238E27FC236}">
                <a16:creationId xmlns:a16="http://schemas.microsoft.com/office/drawing/2014/main" id="{11FDFABD-1FB0-FEC0-22B6-736C29D6BE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612" y="1103740"/>
            <a:ext cx="2966720" cy="629686"/>
          </a:xfrm>
          <a:prstGeom prst="rect">
            <a:avLst/>
          </a:prstGeom>
        </p:spPr>
      </p:pic>
    </p:spTree>
    <p:extLst>
      <p:ext uri="{BB962C8B-B14F-4D97-AF65-F5344CB8AC3E}">
        <p14:creationId xmlns:p14="http://schemas.microsoft.com/office/powerpoint/2010/main" val="3439476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ECFFCF-C744-2D18-2B23-85AAF56C52AF}"/>
              </a:ext>
            </a:extLst>
          </p:cNvPr>
          <p:cNvSpPr>
            <a:spLocks noGrp="1"/>
          </p:cNvSpPr>
          <p:nvPr>
            <p:ph type="title"/>
          </p:nvPr>
        </p:nvSpPr>
        <p:spPr>
          <a:xfrm>
            <a:off x="4460917" y="4811175"/>
            <a:ext cx="3266991" cy="308787"/>
          </a:xfrm>
        </p:spPr>
        <p:txBody>
          <a:bodyPr/>
          <a:lstStyle/>
          <a:p>
            <a:r>
              <a:rPr lang="en-US" dirty="0"/>
              <a:t>Using DAX to create measures</a:t>
            </a:r>
          </a:p>
        </p:txBody>
      </p:sp>
      <p:pic>
        <p:nvPicPr>
          <p:cNvPr id="21" name="Picture Placeholder 20">
            <a:extLst>
              <a:ext uri="{FF2B5EF4-FFF2-40B4-BE49-F238E27FC236}">
                <a16:creationId xmlns:a16="http://schemas.microsoft.com/office/drawing/2014/main" id="{180840CF-D904-54A5-09D8-B0904562183F}"/>
              </a:ext>
            </a:extLst>
          </p:cNvPr>
          <p:cNvPicPr>
            <a:picLocks noGrp="1" noChangeAspect="1"/>
          </p:cNvPicPr>
          <p:nvPr>
            <p:ph type="pic" idx="14"/>
          </p:nvPr>
        </p:nvPicPr>
        <p:blipFill rotWithShape="1">
          <a:blip r:embed="rId2">
            <a:extLst>
              <a:ext uri="{28A0092B-C50C-407E-A947-70E740481C1C}">
                <a14:useLocalDpi xmlns:a14="http://schemas.microsoft.com/office/drawing/2010/main" val="0"/>
              </a:ext>
            </a:extLst>
          </a:blip>
          <a:srcRect t="-7054" b="-7054"/>
          <a:stretch>
            <a:fillRect/>
          </a:stretch>
        </p:blipFill>
        <p:spPr>
          <a:prstGeom prst="rect">
            <a:avLst/>
          </a:prstGeom>
        </p:spPr>
      </p:pic>
      <p:sp>
        <p:nvSpPr>
          <p:cNvPr id="6" name="Text Placeholder 5">
            <a:extLst>
              <a:ext uri="{FF2B5EF4-FFF2-40B4-BE49-F238E27FC236}">
                <a16:creationId xmlns:a16="http://schemas.microsoft.com/office/drawing/2014/main" id="{52DD434D-BF53-41F5-6D87-A64644BF02A3}"/>
              </a:ext>
            </a:extLst>
          </p:cNvPr>
          <p:cNvSpPr>
            <a:spLocks noGrp="1"/>
          </p:cNvSpPr>
          <p:nvPr>
            <p:ph type="body" sz="half" idx="15"/>
          </p:nvPr>
        </p:nvSpPr>
        <p:spPr>
          <a:xfrm>
            <a:off x="3921606" y="5330794"/>
            <a:ext cx="4345611" cy="1058779"/>
          </a:xfrm>
        </p:spPr>
        <p:txBody>
          <a:bodyPr/>
          <a:lstStyle/>
          <a:p>
            <a:pPr algn="ctr"/>
            <a:r>
              <a:rPr lang="en-US" dirty="0"/>
              <a:t>To view the Customer Satisfaction’s criteria in 2025, I created measures on Power BI.</a:t>
            </a:r>
          </a:p>
        </p:txBody>
      </p:sp>
      <p:pic>
        <p:nvPicPr>
          <p:cNvPr id="23" name="Picture Placeholder 22">
            <a:extLst>
              <a:ext uri="{FF2B5EF4-FFF2-40B4-BE49-F238E27FC236}">
                <a16:creationId xmlns:a16="http://schemas.microsoft.com/office/drawing/2014/main" id="{4B6341CA-78D3-18FC-97F5-3308B396A67C}"/>
              </a:ext>
            </a:extLst>
          </p:cNvPr>
          <p:cNvPicPr>
            <a:picLocks noGrp="1" noChangeAspect="1"/>
          </p:cNvPicPr>
          <p:nvPr>
            <p:ph type="pic" idx="16"/>
          </p:nvPr>
        </p:nvPicPr>
        <p:blipFill rotWithShape="1">
          <a:blip r:embed="rId3">
            <a:extLst>
              <a:ext uri="{28A0092B-C50C-407E-A947-70E740481C1C}">
                <a14:useLocalDpi xmlns:a14="http://schemas.microsoft.com/office/drawing/2010/main" val="0"/>
              </a:ext>
            </a:extLst>
          </a:blip>
          <a:srcRect t="-7054" b="-7054"/>
          <a:stretch>
            <a:fillRect/>
          </a:stretch>
        </p:blipFill>
        <p:spPr>
          <a:prstGeom prst="rect">
            <a:avLst/>
          </a:prstGeom>
        </p:spPr>
      </p:pic>
      <p:sp>
        <p:nvSpPr>
          <p:cNvPr id="9" name="Text Placeholder 8">
            <a:extLst>
              <a:ext uri="{FF2B5EF4-FFF2-40B4-BE49-F238E27FC236}">
                <a16:creationId xmlns:a16="http://schemas.microsoft.com/office/drawing/2014/main" id="{EAE22BFD-C2B2-0FD3-C666-1E00ED1FB1ED}"/>
              </a:ext>
            </a:extLst>
          </p:cNvPr>
          <p:cNvSpPr>
            <a:spLocks noGrp="1"/>
          </p:cNvSpPr>
          <p:nvPr>
            <p:ph type="body" sz="half" idx="18"/>
          </p:nvPr>
        </p:nvSpPr>
        <p:spPr/>
        <p:txBody>
          <a:bodyPr/>
          <a:lstStyle/>
          <a:p>
            <a:r>
              <a:rPr lang="en-US" dirty="0"/>
              <a:t>DESCRIPTIVE</a:t>
            </a:r>
          </a:p>
        </p:txBody>
      </p:sp>
      <p:pic>
        <p:nvPicPr>
          <p:cNvPr id="7" name="Picture Placeholder 6">
            <a:extLst>
              <a:ext uri="{FF2B5EF4-FFF2-40B4-BE49-F238E27FC236}">
                <a16:creationId xmlns:a16="http://schemas.microsoft.com/office/drawing/2014/main" id="{D7F4343C-6E0C-5A32-CFC4-86F4566F3583}"/>
              </a:ext>
            </a:extLst>
          </p:cNvPr>
          <p:cNvPicPr>
            <a:picLocks noGrp="1" noChangeAspect="1"/>
          </p:cNvPicPr>
          <p:nvPr>
            <p:ph type="pic" idx="13"/>
          </p:nvPr>
        </p:nvPicPr>
        <p:blipFill rotWithShape="1">
          <a:blip r:embed="rId4">
            <a:extLst>
              <a:ext uri="{28A0092B-C50C-407E-A947-70E740481C1C}">
                <a14:useLocalDpi xmlns:a14="http://schemas.microsoft.com/office/drawing/2010/main" val="0"/>
              </a:ext>
            </a:extLst>
          </a:blip>
          <a:srcRect t="-7054" b="-7054"/>
          <a:stretch>
            <a:fillRect/>
          </a:stretch>
        </p:blipFill>
        <p:spPr>
          <a:prstGeom prst="rect">
            <a:avLst/>
          </a:prstGeom>
        </p:spPr>
      </p:pic>
    </p:spTree>
    <p:extLst>
      <p:ext uri="{BB962C8B-B14F-4D97-AF65-F5344CB8AC3E}">
        <p14:creationId xmlns:p14="http://schemas.microsoft.com/office/powerpoint/2010/main" val="1284295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B5379F-DC68-FC6D-AB18-A5D8CAD5CCF0}"/>
              </a:ext>
            </a:extLst>
          </p:cNvPr>
          <p:cNvSpPr>
            <a:spLocks noGrp="1"/>
          </p:cNvSpPr>
          <p:nvPr>
            <p:ph type="title"/>
          </p:nvPr>
        </p:nvSpPr>
        <p:spPr>
          <a:xfrm>
            <a:off x="4464092" y="4811175"/>
            <a:ext cx="3266991" cy="308787"/>
          </a:xfrm>
        </p:spPr>
        <p:txBody>
          <a:bodyPr/>
          <a:lstStyle/>
          <a:p>
            <a:r>
              <a:rPr lang="en-US" dirty="0"/>
              <a:t>Customer Satisfaction Function</a:t>
            </a:r>
          </a:p>
        </p:txBody>
      </p:sp>
      <p:sp>
        <p:nvSpPr>
          <p:cNvPr id="6" name="Text Placeholder 5">
            <a:extLst>
              <a:ext uri="{FF2B5EF4-FFF2-40B4-BE49-F238E27FC236}">
                <a16:creationId xmlns:a16="http://schemas.microsoft.com/office/drawing/2014/main" id="{07C9A0FD-A6B3-5095-46D3-CD71758F067C}"/>
              </a:ext>
            </a:extLst>
          </p:cNvPr>
          <p:cNvSpPr>
            <a:spLocks noGrp="1"/>
          </p:cNvSpPr>
          <p:nvPr>
            <p:ph type="body" sz="half" idx="15"/>
          </p:nvPr>
        </p:nvSpPr>
        <p:spPr>
          <a:xfrm>
            <a:off x="3719112" y="5334001"/>
            <a:ext cx="4753775" cy="1058779"/>
          </a:xfrm>
        </p:spPr>
        <p:txBody>
          <a:bodyPr/>
          <a:lstStyle/>
          <a:p>
            <a:pPr algn="ctr"/>
            <a:r>
              <a:rPr lang="en-US" dirty="0"/>
              <a:t>According to information in this case, I created the function base on the percentage sharing of criteria.</a:t>
            </a:r>
          </a:p>
        </p:txBody>
      </p:sp>
      <p:sp>
        <p:nvSpPr>
          <p:cNvPr id="9" name="Text Placeholder 8">
            <a:extLst>
              <a:ext uri="{FF2B5EF4-FFF2-40B4-BE49-F238E27FC236}">
                <a16:creationId xmlns:a16="http://schemas.microsoft.com/office/drawing/2014/main" id="{DCF24BDF-DBB3-4466-EE48-03D2F8A0B7C6}"/>
              </a:ext>
            </a:extLst>
          </p:cNvPr>
          <p:cNvSpPr>
            <a:spLocks noGrp="1"/>
          </p:cNvSpPr>
          <p:nvPr>
            <p:ph type="body" sz="half" idx="18"/>
          </p:nvPr>
        </p:nvSpPr>
        <p:spPr/>
        <p:txBody>
          <a:bodyPr/>
          <a:lstStyle/>
          <a:p>
            <a:r>
              <a:rPr lang="en-US" dirty="0"/>
              <a:t>DESCRIPTIVE</a:t>
            </a:r>
          </a:p>
        </p:txBody>
      </p:sp>
      <p:pic>
        <p:nvPicPr>
          <p:cNvPr id="15" name="Picture Placeholder 14">
            <a:extLst>
              <a:ext uri="{FF2B5EF4-FFF2-40B4-BE49-F238E27FC236}">
                <a16:creationId xmlns:a16="http://schemas.microsoft.com/office/drawing/2014/main" id="{4351AA96-2CB2-63AC-52E6-BABB6F56BA68}"/>
              </a:ext>
            </a:extLst>
          </p:cNvPr>
          <p:cNvPicPr>
            <a:picLocks noGrp="1" noChangeAspect="1"/>
          </p:cNvPicPr>
          <p:nvPr>
            <p:ph type="pic" idx="14"/>
          </p:nvPr>
        </p:nvPicPr>
        <p:blipFill rotWithShape="1">
          <a:blip r:embed="rId2"/>
          <a:srcRect t="-13149" b="-13149"/>
          <a:stretch>
            <a:fillRect/>
          </a:stretch>
        </p:blipFill>
        <p:spPr>
          <a:xfrm>
            <a:off x="2322513" y="1524000"/>
            <a:ext cx="7546975" cy="2798763"/>
          </a:xfrm>
          <a:prstGeom prst="rect">
            <a:avLst/>
          </a:prstGeom>
        </p:spPr>
      </p:pic>
    </p:spTree>
    <p:extLst>
      <p:ext uri="{BB962C8B-B14F-4D97-AF65-F5344CB8AC3E}">
        <p14:creationId xmlns:p14="http://schemas.microsoft.com/office/powerpoint/2010/main" val="1205873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7A94DF-6B33-CC86-3E41-8BC42774739F}"/>
              </a:ext>
            </a:extLst>
          </p:cNvPr>
          <p:cNvSpPr>
            <a:spLocks noGrp="1"/>
          </p:cNvSpPr>
          <p:nvPr>
            <p:ph type="title"/>
          </p:nvPr>
        </p:nvSpPr>
        <p:spPr>
          <a:xfrm>
            <a:off x="6989040" y="2580297"/>
            <a:ext cx="3932237" cy="308787"/>
          </a:xfrm>
        </p:spPr>
        <p:txBody>
          <a:bodyPr/>
          <a:lstStyle/>
          <a:p>
            <a:r>
              <a:rPr lang="en-US" dirty="0"/>
              <a:t>BI Descriptive Dashboard</a:t>
            </a:r>
          </a:p>
        </p:txBody>
      </p:sp>
      <p:sp>
        <p:nvSpPr>
          <p:cNvPr id="5" name="Text Placeholder 4">
            <a:extLst>
              <a:ext uri="{FF2B5EF4-FFF2-40B4-BE49-F238E27FC236}">
                <a16:creationId xmlns:a16="http://schemas.microsoft.com/office/drawing/2014/main" id="{CBE44CAE-686C-DFE1-5EF8-211D04CDD970}"/>
              </a:ext>
            </a:extLst>
          </p:cNvPr>
          <p:cNvSpPr>
            <a:spLocks noGrp="1"/>
          </p:cNvSpPr>
          <p:nvPr>
            <p:ph type="body" sz="half" idx="2"/>
          </p:nvPr>
        </p:nvSpPr>
        <p:spPr>
          <a:xfrm>
            <a:off x="6554931" y="3099917"/>
            <a:ext cx="4803631" cy="1373762"/>
          </a:xfrm>
        </p:spPr>
        <p:txBody>
          <a:bodyPr/>
          <a:lstStyle/>
          <a:p>
            <a:pPr algn="ctr"/>
            <a:r>
              <a:rPr lang="en-US" dirty="0"/>
              <a:t>Dashboard above shows </a:t>
            </a:r>
            <a:r>
              <a:rPr lang="en-US" b="1" dirty="0"/>
              <a:t>the summary of customer satisfaction performance</a:t>
            </a:r>
            <a:r>
              <a:rPr lang="en-US" dirty="0"/>
              <a:t> in 2025 (that nearly fit with the information of Nestlé case). Based on that, we can view the current </a:t>
            </a:r>
            <a:r>
              <a:rPr lang="en-US" b="1" dirty="0"/>
              <a:t>%Customer Satisfaction in only 61.75%.</a:t>
            </a:r>
          </a:p>
          <a:p>
            <a:pPr algn="ctr"/>
            <a:r>
              <a:rPr lang="en-US" dirty="0"/>
              <a:t>The other way to use descriptive dashboard that </a:t>
            </a:r>
            <a:r>
              <a:rPr lang="en-US" b="1" dirty="0"/>
              <a:t>apply new dataset </a:t>
            </a:r>
            <a:r>
              <a:rPr lang="en-US" dirty="0"/>
              <a:t>with same structure to view the details information month-by-month for tracking when apply new policy, method.</a:t>
            </a:r>
          </a:p>
        </p:txBody>
      </p:sp>
      <p:sp>
        <p:nvSpPr>
          <p:cNvPr id="7" name="Text Placeholder 6">
            <a:extLst>
              <a:ext uri="{FF2B5EF4-FFF2-40B4-BE49-F238E27FC236}">
                <a16:creationId xmlns:a16="http://schemas.microsoft.com/office/drawing/2014/main" id="{A5EF21DF-FF80-42CA-91B5-326013558E41}"/>
              </a:ext>
            </a:extLst>
          </p:cNvPr>
          <p:cNvSpPr>
            <a:spLocks noGrp="1"/>
          </p:cNvSpPr>
          <p:nvPr>
            <p:ph type="body" sz="half" idx="15"/>
          </p:nvPr>
        </p:nvSpPr>
        <p:spPr/>
        <p:txBody>
          <a:bodyPr/>
          <a:lstStyle/>
          <a:p>
            <a:r>
              <a:rPr lang="en-US" dirty="0"/>
              <a:t>DESCRIPTIVE</a:t>
            </a:r>
          </a:p>
        </p:txBody>
      </p:sp>
      <p:pic>
        <p:nvPicPr>
          <p:cNvPr id="13" name="Picture Placeholder 12">
            <a:extLst>
              <a:ext uri="{FF2B5EF4-FFF2-40B4-BE49-F238E27FC236}">
                <a16:creationId xmlns:a16="http://schemas.microsoft.com/office/drawing/2014/main" id="{E2D4A902-93BA-18BE-BD56-946F2F6678BF}"/>
              </a:ext>
            </a:extLst>
          </p:cNvPr>
          <p:cNvPicPr>
            <a:picLocks noGrp="1" noChangeAspect="1"/>
          </p:cNvPicPr>
          <p:nvPr>
            <p:ph type="pic" idx="13"/>
          </p:nvPr>
        </p:nvPicPr>
        <p:blipFill rotWithShape="1">
          <a:blip r:embed="rId2"/>
          <a:srcRect t="-2248" b="-2248"/>
          <a:stretch>
            <a:fillRect/>
          </a:stretch>
        </p:blipFill>
        <p:spPr>
          <a:xfrm>
            <a:off x="836613" y="2029690"/>
            <a:ext cx="4806806" cy="2798619"/>
          </a:xfrm>
          <a:prstGeom prst="rect">
            <a:avLst/>
          </a:prstGeom>
        </p:spPr>
      </p:pic>
    </p:spTree>
    <p:extLst>
      <p:ext uri="{BB962C8B-B14F-4D97-AF65-F5344CB8AC3E}">
        <p14:creationId xmlns:p14="http://schemas.microsoft.com/office/powerpoint/2010/main" val="287009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1C354173-E725-7A10-6DE3-A0D8DE5AA93D}"/>
              </a:ext>
            </a:extLst>
          </p:cNvPr>
          <p:cNvPicPr>
            <a:picLocks noGrp="1" noChangeAspect="1"/>
          </p:cNvPicPr>
          <p:nvPr>
            <p:ph type="pic" idx="13"/>
          </p:nvPr>
        </p:nvPicPr>
        <p:blipFill>
          <a:blip r:embed="rId2"/>
          <a:srcRect t="4424" b="4424"/>
          <a:stretch/>
        </p:blipFill>
        <p:spPr>
          <a:xfrm>
            <a:off x="3691009" y="1523999"/>
            <a:ext cx="4806806" cy="2798619"/>
          </a:xfrm>
          <a:prstGeom prst="rect">
            <a:avLst/>
          </a:prstGeom>
        </p:spPr>
      </p:pic>
      <p:sp>
        <p:nvSpPr>
          <p:cNvPr id="4" name="Title 3">
            <a:extLst>
              <a:ext uri="{FF2B5EF4-FFF2-40B4-BE49-F238E27FC236}">
                <a16:creationId xmlns:a16="http://schemas.microsoft.com/office/drawing/2014/main" id="{71728441-F049-D949-5AF4-D446FCEB346A}"/>
              </a:ext>
            </a:extLst>
          </p:cNvPr>
          <p:cNvSpPr>
            <a:spLocks noGrp="1"/>
          </p:cNvSpPr>
          <p:nvPr>
            <p:ph type="title"/>
          </p:nvPr>
        </p:nvSpPr>
        <p:spPr>
          <a:xfrm>
            <a:off x="4129881" y="4811175"/>
            <a:ext cx="3932237" cy="308787"/>
          </a:xfrm>
        </p:spPr>
        <p:txBody>
          <a:bodyPr/>
          <a:lstStyle/>
          <a:p>
            <a:r>
              <a:rPr lang="en-US" dirty="0"/>
              <a:t>Power Model</a:t>
            </a:r>
          </a:p>
        </p:txBody>
      </p:sp>
      <p:sp>
        <p:nvSpPr>
          <p:cNvPr id="5" name="Text Placeholder 4">
            <a:extLst>
              <a:ext uri="{FF2B5EF4-FFF2-40B4-BE49-F238E27FC236}">
                <a16:creationId xmlns:a16="http://schemas.microsoft.com/office/drawing/2014/main" id="{2AF6DA1F-95A7-9135-2792-F8A2D3F6574D}"/>
              </a:ext>
            </a:extLst>
          </p:cNvPr>
          <p:cNvSpPr>
            <a:spLocks noGrp="1"/>
          </p:cNvSpPr>
          <p:nvPr>
            <p:ph type="body" sz="half" idx="2"/>
          </p:nvPr>
        </p:nvSpPr>
        <p:spPr>
          <a:xfrm>
            <a:off x="3093299" y="5334001"/>
            <a:ext cx="6002226" cy="1058779"/>
          </a:xfrm>
        </p:spPr>
        <p:txBody>
          <a:bodyPr/>
          <a:lstStyle/>
          <a:p>
            <a:pPr algn="ctr"/>
            <a:r>
              <a:rPr lang="en-US" dirty="0"/>
              <a:t>Because criteria are rating in percentage, to hit 100% is impossible. Therefore, they are following the </a:t>
            </a:r>
            <a:r>
              <a:rPr lang="en-US" b="1" dirty="0"/>
              <a:t>power function</a:t>
            </a:r>
            <a:r>
              <a:rPr lang="en-US" dirty="0"/>
              <a:t>.</a:t>
            </a:r>
          </a:p>
        </p:txBody>
      </p:sp>
      <p:sp>
        <p:nvSpPr>
          <p:cNvPr id="7" name="Text Placeholder 6">
            <a:extLst>
              <a:ext uri="{FF2B5EF4-FFF2-40B4-BE49-F238E27FC236}">
                <a16:creationId xmlns:a16="http://schemas.microsoft.com/office/drawing/2014/main" id="{788A4E13-CDA6-7827-B4C8-A010B605738C}"/>
              </a:ext>
            </a:extLst>
          </p:cNvPr>
          <p:cNvSpPr>
            <a:spLocks noGrp="1"/>
          </p:cNvSpPr>
          <p:nvPr>
            <p:ph type="body" sz="half" idx="15"/>
          </p:nvPr>
        </p:nvSpPr>
        <p:spPr/>
        <p:txBody>
          <a:bodyPr/>
          <a:lstStyle/>
          <a:p>
            <a:r>
              <a:rPr lang="en-US" dirty="0"/>
              <a:t>PREDICTIVE</a:t>
            </a:r>
          </a:p>
        </p:txBody>
      </p:sp>
      <p:pic>
        <p:nvPicPr>
          <p:cNvPr id="3" name="Picture 2">
            <a:extLst>
              <a:ext uri="{FF2B5EF4-FFF2-40B4-BE49-F238E27FC236}">
                <a16:creationId xmlns:a16="http://schemas.microsoft.com/office/drawing/2014/main" id="{DA315F50-4582-A901-CC33-47C4DCE72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613" y="1075906"/>
            <a:ext cx="3083965" cy="654571"/>
          </a:xfrm>
          <a:prstGeom prst="rect">
            <a:avLst/>
          </a:prstGeom>
        </p:spPr>
      </p:pic>
    </p:spTree>
    <p:extLst>
      <p:ext uri="{BB962C8B-B14F-4D97-AF65-F5344CB8AC3E}">
        <p14:creationId xmlns:p14="http://schemas.microsoft.com/office/powerpoint/2010/main" val="3481489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37ECF9D5-4CDD-3DC8-25E0-74581DA969F9}"/>
              </a:ext>
            </a:extLst>
          </p:cNvPr>
          <p:cNvPicPr>
            <a:picLocks noGrp="1" noChangeAspect="1"/>
          </p:cNvPicPr>
          <p:nvPr>
            <p:ph type="pic" idx="13"/>
          </p:nvPr>
        </p:nvPicPr>
        <p:blipFill rotWithShape="1">
          <a:blip r:embed="rId2"/>
          <a:srcRect t="-23554" b="-23554"/>
          <a:stretch>
            <a:fillRect/>
          </a:stretch>
        </p:blipFill>
        <p:spPr>
          <a:prstGeom prst="rect">
            <a:avLst/>
          </a:prstGeom>
        </p:spPr>
      </p:pic>
      <p:sp>
        <p:nvSpPr>
          <p:cNvPr id="3" name="Title 2">
            <a:extLst>
              <a:ext uri="{FF2B5EF4-FFF2-40B4-BE49-F238E27FC236}">
                <a16:creationId xmlns:a16="http://schemas.microsoft.com/office/drawing/2014/main" id="{F584298E-238C-DFDD-F4E2-CB40B86D1354}"/>
              </a:ext>
            </a:extLst>
          </p:cNvPr>
          <p:cNvSpPr>
            <a:spLocks noGrp="1"/>
          </p:cNvSpPr>
          <p:nvPr>
            <p:ph type="title"/>
          </p:nvPr>
        </p:nvSpPr>
        <p:spPr>
          <a:xfrm>
            <a:off x="4464092" y="4811175"/>
            <a:ext cx="3266991" cy="308787"/>
          </a:xfrm>
        </p:spPr>
        <p:txBody>
          <a:bodyPr/>
          <a:lstStyle/>
          <a:p>
            <a:r>
              <a:rPr lang="en-US" dirty="0"/>
              <a:t>Yearly Predictive Model</a:t>
            </a:r>
          </a:p>
        </p:txBody>
      </p:sp>
      <p:pic>
        <p:nvPicPr>
          <p:cNvPr id="13" name="Picture Placeholder 12">
            <a:extLst>
              <a:ext uri="{FF2B5EF4-FFF2-40B4-BE49-F238E27FC236}">
                <a16:creationId xmlns:a16="http://schemas.microsoft.com/office/drawing/2014/main" id="{79D2740E-BFB1-3B1B-3F91-693960A7C666}"/>
              </a:ext>
            </a:extLst>
          </p:cNvPr>
          <p:cNvPicPr>
            <a:picLocks noGrp="1" noChangeAspect="1"/>
          </p:cNvPicPr>
          <p:nvPr>
            <p:ph type="pic" idx="14"/>
          </p:nvPr>
        </p:nvPicPr>
        <p:blipFill rotWithShape="1">
          <a:blip r:embed="rId3"/>
          <a:srcRect t="-23554" b="-23554"/>
          <a:stretch>
            <a:fillRect/>
          </a:stretch>
        </p:blipFill>
        <p:spPr>
          <a:prstGeom prst="rect">
            <a:avLst/>
          </a:prstGeom>
        </p:spPr>
      </p:pic>
      <p:sp>
        <p:nvSpPr>
          <p:cNvPr id="6" name="Text Placeholder 5">
            <a:extLst>
              <a:ext uri="{FF2B5EF4-FFF2-40B4-BE49-F238E27FC236}">
                <a16:creationId xmlns:a16="http://schemas.microsoft.com/office/drawing/2014/main" id="{E75CDCC7-A575-E757-569A-69AA9467DEB8}"/>
              </a:ext>
            </a:extLst>
          </p:cNvPr>
          <p:cNvSpPr>
            <a:spLocks noGrp="1"/>
          </p:cNvSpPr>
          <p:nvPr>
            <p:ph type="body" sz="half" idx="15"/>
          </p:nvPr>
        </p:nvSpPr>
        <p:spPr>
          <a:xfrm>
            <a:off x="2951605" y="5330794"/>
            <a:ext cx="6288789" cy="1058779"/>
          </a:xfrm>
        </p:spPr>
        <p:txBody>
          <a:bodyPr>
            <a:normAutofit/>
          </a:bodyPr>
          <a:lstStyle/>
          <a:p>
            <a:pPr algn="ctr"/>
            <a:r>
              <a:rPr lang="en-US" dirty="0"/>
              <a:t>Based on the requirement, we have two information to find model that are historical data and target (calculate monthly to yearly by multiple with 12). </a:t>
            </a:r>
          </a:p>
          <a:p>
            <a:pPr algn="ctr"/>
            <a:r>
              <a:rPr lang="en-US" dirty="0"/>
              <a:t>After that, we easily find three yearly models for criteria.</a:t>
            </a:r>
          </a:p>
          <a:p>
            <a:endParaRPr lang="en-US" dirty="0"/>
          </a:p>
        </p:txBody>
      </p:sp>
      <p:pic>
        <p:nvPicPr>
          <p:cNvPr id="15" name="Picture Placeholder 14">
            <a:extLst>
              <a:ext uri="{FF2B5EF4-FFF2-40B4-BE49-F238E27FC236}">
                <a16:creationId xmlns:a16="http://schemas.microsoft.com/office/drawing/2014/main" id="{F075FFA8-0996-D6C9-AD3A-CC1B9C4ADB89}"/>
              </a:ext>
            </a:extLst>
          </p:cNvPr>
          <p:cNvPicPr>
            <a:picLocks noGrp="1" noChangeAspect="1"/>
          </p:cNvPicPr>
          <p:nvPr>
            <p:ph type="pic" idx="16"/>
          </p:nvPr>
        </p:nvPicPr>
        <p:blipFill rotWithShape="1">
          <a:blip r:embed="rId4"/>
          <a:srcRect t="-23554" b="-23554"/>
          <a:stretch>
            <a:fillRect/>
          </a:stretch>
        </p:blipFill>
        <p:spPr>
          <a:prstGeom prst="rect">
            <a:avLst/>
          </a:prstGeom>
        </p:spPr>
      </p:pic>
      <p:sp>
        <p:nvSpPr>
          <p:cNvPr id="9" name="Text Placeholder 8">
            <a:extLst>
              <a:ext uri="{FF2B5EF4-FFF2-40B4-BE49-F238E27FC236}">
                <a16:creationId xmlns:a16="http://schemas.microsoft.com/office/drawing/2014/main" id="{24F29FB3-77A2-FE7A-0BFF-3F37FD534C07}"/>
              </a:ext>
            </a:extLst>
          </p:cNvPr>
          <p:cNvSpPr>
            <a:spLocks noGrp="1"/>
          </p:cNvSpPr>
          <p:nvPr>
            <p:ph type="body" sz="half" idx="18"/>
          </p:nvPr>
        </p:nvSpPr>
        <p:spPr/>
        <p:txBody>
          <a:bodyPr/>
          <a:lstStyle/>
          <a:p>
            <a:r>
              <a:rPr lang="en-US" dirty="0"/>
              <a:t>PREDICTIVE</a:t>
            </a:r>
          </a:p>
        </p:txBody>
      </p:sp>
    </p:spTree>
    <p:extLst>
      <p:ext uri="{BB962C8B-B14F-4D97-AF65-F5344CB8AC3E}">
        <p14:creationId xmlns:p14="http://schemas.microsoft.com/office/powerpoint/2010/main" val="4146384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74722-FA80-FEA8-A57B-B03D78FC1C5E}"/>
              </a:ext>
            </a:extLst>
          </p:cNvPr>
          <p:cNvSpPr>
            <a:spLocks noGrp="1"/>
          </p:cNvSpPr>
          <p:nvPr>
            <p:ph type="title"/>
          </p:nvPr>
        </p:nvSpPr>
        <p:spPr>
          <a:xfrm>
            <a:off x="4129881" y="4811175"/>
            <a:ext cx="3932237" cy="308787"/>
          </a:xfrm>
        </p:spPr>
        <p:txBody>
          <a:bodyPr/>
          <a:lstStyle/>
          <a:p>
            <a:r>
              <a:rPr lang="en-US" dirty="0"/>
              <a:t>Predictive Model (Yearly to Monthly)</a:t>
            </a:r>
          </a:p>
        </p:txBody>
      </p:sp>
      <p:sp>
        <p:nvSpPr>
          <p:cNvPr id="5" name="Text Placeholder 4">
            <a:extLst>
              <a:ext uri="{FF2B5EF4-FFF2-40B4-BE49-F238E27FC236}">
                <a16:creationId xmlns:a16="http://schemas.microsoft.com/office/drawing/2014/main" id="{8C7D01A8-D18A-8851-F852-22ED79BC05DC}"/>
              </a:ext>
            </a:extLst>
          </p:cNvPr>
          <p:cNvSpPr>
            <a:spLocks noGrp="1"/>
          </p:cNvSpPr>
          <p:nvPr>
            <p:ph type="body" sz="half" idx="2"/>
          </p:nvPr>
        </p:nvSpPr>
        <p:spPr>
          <a:xfrm>
            <a:off x="2766570" y="5330794"/>
            <a:ext cx="6658857" cy="1058779"/>
          </a:xfrm>
        </p:spPr>
        <p:txBody>
          <a:bodyPr/>
          <a:lstStyle/>
          <a:p>
            <a:pPr algn="ctr"/>
            <a:r>
              <a:rPr lang="en-US" dirty="0"/>
              <a:t>To set target monthly KPI, I transform yearly to monthly model. Then, I find the gap month-by-month by find </a:t>
            </a:r>
            <a:r>
              <a:rPr lang="en-US" b="1" dirty="0"/>
              <a:t>r value</a:t>
            </a:r>
            <a:r>
              <a:rPr lang="en-US" dirty="0"/>
              <a:t>. After that, I use the number of cases last month multiple with r value to get target this month.</a:t>
            </a:r>
          </a:p>
          <a:p>
            <a:pPr algn="ctr"/>
            <a:r>
              <a:rPr lang="en-US" dirty="0"/>
              <a:t>In 2026, if the number of fail COF cases lower than target, it meet KPI. </a:t>
            </a:r>
          </a:p>
        </p:txBody>
      </p:sp>
      <p:sp>
        <p:nvSpPr>
          <p:cNvPr id="7" name="Text Placeholder 6">
            <a:extLst>
              <a:ext uri="{FF2B5EF4-FFF2-40B4-BE49-F238E27FC236}">
                <a16:creationId xmlns:a16="http://schemas.microsoft.com/office/drawing/2014/main" id="{04D8F105-E60A-5E1A-5110-FDB4CCD5A995}"/>
              </a:ext>
            </a:extLst>
          </p:cNvPr>
          <p:cNvSpPr>
            <a:spLocks noGrp="1"/>
          </p:cNvSpPr>
          <p:nvPr>
            <p:ph type="body" sz="half" idx="15"/>
          </p:nvPr>
        </p:nvSpPr>
        <p:spPr/>
        <p:txBody>
          <a:bodyPr/>
          <a:lstStyle/>
          <a:p>
            <a:r>
              <a:rPr lang="en-US" dirty="0"/>
              <a:t>PREDICTIVE</a:t>
            </a:r>
          </a:p>
        </p:txBody>
      </p:sp>
      <p:pic>
        <p:nvPicPr>
          <p:cNvPr id="13" name="Picture Placeholder 12">
            <a:extLst>
              <a:ext uri="{FF2B5EF4-FFF2-40B4-BE49-F238E27FC236}">
                <a16:creationId xmlns:a16="http://schemas.microsoft.com/office/drawing/2014/main" id="{6907AB55-8871-CC60-24C5-92892195963C}"/>
              </a:ext>
            </a:extLst>
          </p:cNvPr>
          <p:cNvPicPr>
            <a:picLocks noGrp="1" noChangeAspect="1"/>
          </p:cNvPicPr>
          <p:nvPr>
            <p:ph type="pic" idx="13"/>
          </p:nvPr>
        </p:nvPicPr>
        <p:blipFill rotWithShape="1">
          <a:blip r:embed="rId2"/>
          <a:srcRect t="-55946" b="-55946"/>
          <a:stretch>
            <a:fillRect/>
          </a:stretch>
        </p:blipFill>
        <p:spPr>
          <a:prstGeom prst="rect">
            <a:avLst/>
          </a:prstGeom>
        </p:spPr>
      </p:pic>
      <p:pic>
        <p:nvPicPr>
          <p:cNvPr id="17" name="Picture Placeholder 16">
            <a:extLst>
              <a:ext uri="{FF2B5EF4-FFF2-40B4-BE49-F238E27FC236}">
                <a16:creationId xmlns:a16="http://schemas.microsoft.com/office/drawing/2014/main" id="{097E1C30-E54C-ECFE-D2C5-89BF13C31D00}"/>
              </a:ext>
            </a:extLst>
          </p:cNvPr>
          <p:cNvPicPr>
            <a:picLocks noGrp="1" noChangeAspect="1"/>
          </p:cNvPicPr>
          <p:nvPr>
            <p:ph type="pic" idx="1"/>
          </p:nvPr>
        </p:nvPicPr>
        <p:blipFill rotWithShape="1">
          <a:blip r:embed="rId3"/>
          <a:srcRect t="-16987" b="-16987"/>
          <a:stretch>
            <a:fillRect/>
          </a:stretch>
        </p:blipFill>
        <p:spPr>
          <a:prstGeom prst="rect">
            <a:avLst/>
          </a:prstGeom>
        </p:spPr>
      </p:pic>
    </p:spTree>
    <p:extLst>
      <p:ext uri="{BB962C8B-B14F-4D97-AF65-F5344CB8AC3E}">
        <p14:creationId xmlns:p14="http://schemas.microsoft.com/office/powerpoint/2010/main" val="2442780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4BFB3FEF-5E1A-5ACE-7EB4-CF6C9551F6B9}"/>
              </a:ext>
            </a:extLst>
          </p:cNvPr>
          <p:cNvPicPr>
            <a:picLocks noGrp="1" noChangeAspect="1"/>
          </p:cNvPicPr>
          <p:nvPr>
            <p:ph type="pic" idx="13"/>
          </p:nvPr>
        </p:nvPicPr>
        <p:blipFill rotWithShape="1">
          <a:blip r:embed="rId2"/>
          <a:srcRect t="-1848" b="-1848"/>
          <a:stretch>
            <a:fillRect/>
          </a:stretch>
        </p:blipFill>
        <p:spPr>
          <a:xfrm>
            <a:off x="836613" y="2125882"/>
            <a:ext cx="4806806" cy="2798619"/>
          </a:xfrm>
          <a:prstGeom prst="rect">
            <a:avLst/>
          </a:prstGeom>
        </p:spPr>
      </p:pic>
      <p:sp>
        <p:nvSpPr>
          <p:cNvPr id="4" name="Title 3">
            <a:extLst>
              <a:ext uri="{FF2B5EF4-FFF2-40B4-BE49-F238E27FC236}">
                <a16:creationId xmlns:a16="http://schemas.microsoft.com/office/drawing/2014/main" id="{60A106E4-6E84-1558-C082-86741AF24AFB}"/>
              </a:ext>
            </a:extLst>
          </p:cNvPr>
          <p:cNvSpPr>
            <a:spLocks noGrp="1"/>
          </p:cNvSpPr>
          <p:nvPr>
            <p:ph type="title"/>
          </p:nvPr>
        </p:nvSpPr>
        <p:spPr>
          <a:xfrm>
            <a:off x="6987452" y="2474639"/>
            <a:ext cx="3932237" cy="308787"/>
          </a:xfrm>
        </p:spPr>
        <p:txBody>
          <a:bodyPr/>
          <a:lstStyle/>
          <a:p>
            <a:r>
              <a:rPr lang="en-US" dirty="0"/>
              <a:t>BI Dashboard</a:t>
            </a:r>
          </a:p>
        </p:txBody>
      </p:sp>
      <p:sp>
        <p:nvSpPr>
          <p:cNvPr id="5" name="Text Placeholder 4">
            <a:extLst>
              <a:ext uri="{FF2B5EF4-FFF2-40B4-BE49-F238E27FC236}">
                <a16:creationId xmlns:a16="http://schemas.microsoft.com/office/drawing/2014/main" id="{3FCA7969-F7AC-9219-5F21-EBCBF72B1C89}"/>
              </a:ext>
            </a:extLst>
          </p:cNvPr>
          <p:cNvSpPr>
            <a:spLocks noGrp="1"/>
          </p:cNvSpPr>
          <p:nvPr>
            <p:ph type="body" sz="half" idx="2"/>
          </p:nvPr>
        </p:nvSpPr>
        <p:spPr>
          <a:xfrm>
            <a:off x="6551756" y="2994259"/>
            <a:ext cx="4803631" cy="1605122"/>
          </a:xfrm>
        </p:spPr>
        <p:txBody>
          <a:bodyPr>
            <a:normAutofit/>
          </a:bodyPr>
          <a:lstStyle/>
          <a:p>
            <a:pPr algn="ctr"/>
            <a:r>
              <a:rPr lang="en-US" dirty="0"/>
              <a:t>This dashboard shows the target of 3 criteria, such as %COF, %</a:t>
            </a:r>
            <a:r>
              <a:rPr lang="en-US" dirty="0" err="1"/>
              <a:t>ontime</a:t>
            </a:r>
            <a:r>
              <a:rPr lang="en-US" dirty="0"/>
              <a:t>, %</a:t>
            </a:r>
            <a:r>
              <a:rPr lang="en-US" dirty="0" err="1"/>
              <a:t>infull</a:t>
            </a:r>
            <a:r>
              <a:rPr lang="en-US" dirty="0"/>
              <a:t> and the %Customer Satisfaction, all of them present in monthly.</a:t>
            </a:r>
          </a:p>
          <a:p>
            <a:pPr algn="ctr"/>
            <a:r>
              <a:rPr lang="en-US" dirty="0"/>
              <a:t>Besides, I created simulated 2026 dataset for target information in </a:t>
            </a:r>
            <a:r>
              <a:rPr lang="en-US" b="1" dirty="0"/>
              <a:t>KPI charts </a:t>
            </a:r>
            <a:r>
              <a:rPr lang="en-US" dirty="0"/>
              <a:t>and </a:t>
            </a:r>
            <a:r>
              <a:rPr lang="en-US" b="1" dirty="0"/>
              <a:t>Line charts </a:t>
            </a:r>
            <a:r>
              <a:rPr lang="en-US" dirty="0"/>
              <a:t>(for overall view). In fact, this dashboard can </a:t>
            </a:r>
            <a:r>
              <a:rPr lang="en-US" b="1" dirty="0"/>
              <a:t>automation upgrade </a:t>
            </a:r>
            <a:r>
              <a:rPr lang="en-US" dirty="0"/>
              <a:t>when I append the newest data to dataset. So, my boss can track 2026 performance day-by-day.</a:t>
            </a:r>
          </a:p>
        </p:txBody>
      </p:sp>
      <p:sp>
        <p:nvSpPr>
          <p:cNvPr id="7" name="Text Placeholder 6">
            <a:extLst>
              <a:ext uri="{FF2B5EF4-FFF2-40B4-BE49-F238E27FC236}">
                <a16:creationId xmlns:a16="http://schemas.microsoft.com/office/drawing/2014/main" id="{B3946775-97F6-24A0-A662-F62D9E8AC95E}"/>
              </a:ext>
            </a:extLst>
          </p:cNvPr>
          <p:cNvSpPr>
            <a:spLocks noGrp="1"/>
          </p:cNvSpPr>
          <p:nvPr>
            <p:ph type="body" sz="half" idx="15"/>
          </p:nvPr>
        </p:nvSpPr>
        <p:spPr/>
        <p:txBody>
          <a:bodyPr/>
          <a:lstStyle/>
          <a:p>
            <a:r>
              <a:rPr lang="en-US" dirty="0"/>
              <a:t>PREDICTIVE</a:t>
            </a:r>
          </a:p>
        </p:txBody>
      </p:sp>
    </p:spTree>
    <p:extLst>
      <p:ext uri="{BB962C8B-B14F-4D97-AF65-F5344CB8AC3E}">
        <p14:creationId xmlns:p14="http://schemas.microsoft.com/office/powerpoint/2010/main" val="2175880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AC0F1CE6-FF7C-3AB6-2C20-5BDEB70B1244}"/>
              </a:ext>
            </a:extLst>
          </p:cNvPr>
          <p:cNvPicPr>
            <a:picLocks noGrp="1" noChangeAspect="1"/>
          </p:cNvPicPr>
          <p:nvPr>
            <p:ph type="pic" idx="1"/>
          </p:nvPr>
        </p:nvPicPr>
        <p:blipFill rotWithShape="1">
          <a:blip r:embed="rId2"/>
          <a:srcRect t="-2032" b="-2032"/>
          <a:stretch>
            <a:fillRect/>
          </a:stretch>
        </p:blipFill>
        <p:spPr>
          <a:prstGeom prst="rect">
            <a:avLst/>
          </a:prstGeom>
        </p:spPr>
      </p:pic>
      <p:pic>
        <p:nvPicPr>
          <p:cNvPr id="11" name="Picture Placeholder 10">
            <a:extLst>
              <a:ext uri="{FF2B5EF4-FFF2-40B4-BE49-F238E27FC236}">
                <a16:creationId xmlns:a16="http://schemas.microsoft.com/office/drawing/2014/main" id="{14B521DB-F9EE-3811-A0B9-6ADB15D6AC21}"/>
              </a:ext>
            </a:extLst>
          </p:cNvPr>
          <p:cNvPicPr>
            <a:picLocks noGrp="1" noChangeAspect="1"/>
          </p:cNvPicPr>
          <p:nvPr>
            <p:ph type="pic" idx="13"/>
          </p:nvPr>
        </p:nvPicPr>
        <p:blipFill rotWithShape="1">
          <a:blip r:embed="rId3"/>
          <a:srcRect t="-1992" b="-1992"/>
          <a:stretch>
            <a:fillRect/>
          </a:stretch>
        </p:blipFill>
        <p:spPr>
          <a:prstGeom prst="rect">
            <a:avLst/>
          </a:prstGeom>
        </p:spPr>
      </p:pic>
      <p:sp>
        <p:nvSpPr>
          <p:cNvPr id="4" name="Title 3">
            <a:extLst>
              <a:ext uri="{FF2B5EF4-FFF2-40B4-BE49-F238E27FC236}">
                <a16:creationId xmlns:a16="http://schemas.microsoft.com/office/drawing/2014/main" id="{9C9F9622-83B3-5537-D649-DE54441864CC}"/>
              </a:ext>
            </a:extLst>
          </p:cNvPr>
          <p:cNvSpPr>
            <a:spLocks noGrp="1"/>
          </p:cNvSpPr>
          <p:nvPr>
            <p:ph type="title"/>
          </p:nvPr>
        </p:nvSpPr>
        <p:spPr/>
        <p:txBody>
          <a:bodyPr/>
          <a:lstStyle/>
          <a:p>
            <a:r>
              <a:rPr lang="en-US" dirty="0"/>
              <a:t>Example: View in FEB-2026</a:t>
            </a:r>
          </a:p>
        </p:txBody>
      </p:sp>
      <p:sp>
        <p:nvSpPr>
          <p:cNvPr id="5" name="Text Placeholder 4">
            <a:extLst>
              <a:ext uri="{FF2B5EF4-FFF2-40B4-BE49-F238E27FC236}">
                <a16:creationId xmlns:a16="http://schemas.microsoft.com/office/drawing/2014/main" id="{6BBBA6E4-8977-43BB-74F4-138D6781DC9D}"/>
              </a:ext>
            </a:extLst>
          </p:cNvPr>
          <p:cNvSpPr>
            <a:spLocks noGrp="1"/>
          </p:cNvSpPr>
          <p:nvPr>
            <p:ph type="body" sz="half" idx="2"/>
          </p:nvPr>
        </p:nvSpPr>
        <p:spPr/>
        <p:txBody>
          <a:bodyPr/>
          <a:lstStyle/>
          <a:p>
            <a:pPr algn="ctr"/>
            <a:r>
              <a:rPr lang="en-US" dirty="0"/>
              <a:t>In %KPI, three quarter meet target because the number of cases fail are lower than maximum cases fail.</a:t>
            </a:r>
          </a:p>
          <a:p>
            <a:pPr algn="ctr"/>
            <a:r>
              <a:rPr lang="en-US" dirty="0"/>
              <a:t>But, in February 2026, company X don’t have tracking solution, the Customer Satisfaction is slightly increase to 68.21%</a:t>
            </a:r>
          </a:p>
        </p:txBody>
      </p:sp>
      <p:sp>
        <p:nvSpPr>
          <p:cNvPr id="6" name="Text Placeholder 5">
            <a:extLst>
              <a:ext uri="{FF2B5EF4-FFF2-40B4-BE49-F238E27FC236}">
                <a16:creationId xmlns:a16="http://schemas.microsoft.com/office/drawing/2014/main" id="{AFF63CE6-00E7-73D3-7AB4-5130A3BAB1D8}"/>
              </a:ext>
            </a:extLst>
          </p:cNvPr>
          <p:cNvSpPr>
            <a:spLocks noGrp="1"/>
          </p:cNvSpPr>
          <p:nvPr>
            <p:ph type="body" sz="half" idx="14"/>
          </p:nvPr>
        </p:nvSpPr>
        <p:spPr/>
        <p:txBody>
          <a:bodyPr/>
          <a:lstStyle/>
          <a:p>
            <a:pPr algn="ctr"/>
            <a:r>
              <a:rPr lang="en-US" dirty="0"/>
              <a:t>Three criteria below don’t meet target because the number of cases fail are out of limit. So, all color of them is red.</a:t>
            </a:r>
          </a:p>
          <a:p>
            <a:pPr algn="ctr"/>
            <a:r>
              <a:rPr lang="en-US" dirty="0"/>
              <a:t>On the other hand, in August 2026, company X introduce the Tracking Solution for their customers, so Customer Satisfaction improve to 85.81%.</a:t>
            </a:r>
          </a:p>
        </p:txBody>
      </p:sp>
      <p:sp>
        <p:nvSpPr>
          <p:cNvPr id="7" name="Text Placeholder 6">
            <a:extLst>
              <a:ext uri="{FF2B5EF4-FFF2-40B4-BE49-F238E27FC236}">
                <a16:creationId xmlns:a16="http://schemas.microsoft.com/office/drawing/2014/main" id="{56FEEED7-5190-DDBF-D71A-CE1991148FA5}"/>
              </a:ext>
            </a:extLst>
          </p:cNvPr>
          <p:cNvSpPr>
            <a:spLocks noGrp="1"/>
          </p:cNvSpPr>
          <p:nvPr>
            <p:ph type="body" sz="half" idx="15"/>
          </p:nvPr>
        </p:nvSpPr>
        <p:spPr/>
        <p:txBody>
          <a:bodyPr/>
          <a:lstStyle/>
          <a:p>
            <a:r>
              <a:rPr lang="en-US" dirty="0"/>
              <a:t>PREDICTIVE</a:t>
            </a:r>
          </a:p>
        </p:txBody>
      </p:sp>
      <p:sp>
        <p:nvSpPr>
          <p:cNvPr id="12" name="Title 3">
            <a:extLst>
              <a:ext uri="{FF2B5EF4-FFF2-40B4-BE49-F238E27FC236}">
                <a16:creationId xmlns:a16="http://schemas.microsoft.com/office/drawing/2014/main" id="{7759A9F6-AF9F-74F6-84E8-6E5797AADC8A}"/>
              </a:ext>
            </a:extLst>
          </p:cNvPr>
          <p:cNvSpPr txBox="1">
            <a:spLocks/>
          </p:cNvSpPr>
          <p:nvPr/>
        </p:nvSpPr>
        <p:spPr>
          <a:xfrm>
            <a:off x="6985865" y="4811175"/>
            <a:ext cx="3932237" cy="30878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1400" b="1" kern="1200">
                <a:solidFill>
                  <a:srgbClr val="FF0000"/>
                </a:solidFill>
                <a:latin typeface="Arial" panose="020B0604020202020204" pitchFamily="34" charset="0"/>
                <a:ea typeface="+mj-ea"/>
                <a:cs typeface="Arial" panose="020B0604020202020204" pitchFamily="34" charset="0"/>
              </a:defRPr>
            </a:lvl1pPr>
          </a:lstStyle>
          <a:p>
            <a:r>
              <a:rPr lang="en-US" dirty="0"/>
              <a:t>Example: View in AUG-2026</a:t>
            </a:r>
          </a:p>
        </p:txBody>
      </p:sp>
    </p:spTree>
    <p:extLst>
      <p:ext uri="{BB962C8B-B14F-4D97-AF65-F5344CB8AC3E}">
        <p14:creationId xmlns:p14="http://schemas.microsoft.com/office/powerpoint/2010/main" val="1384357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358D3868-404E-A87C-5C9F-0350EFD9DEFB}"/>
              </a:ext>
            </a:extLst>
          </p:cNvPr>
          <p:cNvPicPr>
            <a:picLocks noGrp="1" noChangeAspect="1"/>
          </p:cNvPicPr>
          <p:nvPr>
            <p:ph type="pic" idx="1"/>
          </p:nvPr>
        </p:nvPicPr>
        <p:blipFill rotWithShape="1">
          <a:blip r:embed="rId2"/>
          <a:srcRect t="-36130" b="-36130"/>
          <a:stretch>
            <a:fillRect/>
          </a:stretch>
        </p:blipFill>
        <p:spPr>
          <a:prstGeom prst="rect">
            <a:avLst/>
          </a:prstGeom>
        </p:spPr>
      </p:pic>
      <p:pic>
        <p:nvPicPr>
          <p:cNvPr id="9" name="Picture Placeholder 8">
            <a:extLst>
              <a:ext uri="{FF2B5EF4-FFF2-40B4-BE49-F238E27FC236}">
                <a16:creationId xmlns:a16="http://schemas.microsoft.com/office/drawing/2014/main" id="{0D40AF66-F761-0D0A-45F8-C27877133AC4}"/>
              </a:ext>
            </a:extLst>
          </p:cNvPr>
          <p:cNvPicPr>
            <a:picLocks noGrp="1" noChangeAspect="1"/>
          </p:cNvPicPr>
          <p:nvPr>
            <p:ph type="pic" idx="13"/>
          </p:nvPr>
        </p:nvPicPr>
        <p:blipFill rotWithShape="1">
          <a:blip r:embed="rId3"/>
          <a:srcRect l="66" t="-69021" r="-66" b="-43790"/>
          <a:stretch>
            <a:fillRect/>
          </a:stretch>
        </p:blipFill>
        <p:spPr>
          <a:xfrm>
            <a:off x="836612" y="1487797"/>
            <a:ext cx="4806806" cy="2798619"/>
          </a:xfrm>
          <a:prstGeom prst="rect">
            <a:avLst/>
          </a:prstGeom>
        </p:spPr>
      </p:pic>
      <p:sp>
        <p:nvSpPr>
          <p:cNvPr id="4" name="Title 3">
            <a:extLst>
              <a:ext uri="{FF2B5EF4-FFF2-40B4-BE49-F238E27FC236}">
                <a16:creationId xmlns:a16="http://schemas.microsoft.com/office/drawing/2014/main" id="{31AFD679-7CD6-BCC2-8702-8BD5FD5280B9}"/>
              </a:ext>
            </a:extLst>
          </p:cNvPr>
          <p:cNvSpPr>
            <a:spLocks noGrp="1"/>
          </p:cNvSpPr>
          <p:nvPr>
            <p:ph type="title"/>
          </p:nvPr>
        </p:nvSpPr>
        <p:spPr>
          <a:xfrm>
            <a:off x="1273897" y="4485955"/>
            <a:ext cx="3932237" cy="308787"/>
          </a:xfrm>
        </p:spPr>
        <p:txBody>
          <a:bodyPr/>
          <a:lstStyle/>
          <a:p>
            <a:r>
              <a:rPr lang="en-US" dirty="0"/>
              <a:t>Overall 2025 historical data</a:t>
            </a:r>
          </a:p>
        </p:txBody>
      </p:sp>
      <p:sp>
        <p:nvSpPr>
          <p:cNvPr id="5" name="Text Placeholder 4">
            <a:extLst>
              <a:ext uri="{FF2B5EF4-FFF2-40B4-BE49-F238E27FC236}">
                <a16:creationId xmlns:a16="http://schemas.microsoft.com/office/drawing/2014/main" id="{05A2F799-2E6D-4E03-B62E-40686EA34EA3}"/>
              </a:ext>
            </a:extLst>
          </p:cNvPr>
          <p:cNvSpPr>
            <a:spLocks noGrp="1"/>
          </p:cNvSpPr>
          <p:nvPr>
            <p:ph type="body" sz="half" idx="2"/>
          </p:nvPr>
        </p:nvSpPr>
        <p:spPr>
          <a:xfrm>
            <a:off x="839788" y="4958080"/>
            <a:ext cx="4803631" cy="1431494"/>
          </a:xfrm>
        </p:spPr>
        <p:txBody>
          <a:bodyPr>
            <a:normAutofit/>
          </a:bodyPr>
          <a:lstStyle/>
          <a:p>
            <a:pPr algn="ctr"/>
            <a:r>
              <a:rPr lang="en-US" dirty="0"/>
              <a:t>Using Power Query to combine datasets to a table above.</a:t>
            </a:r>
          </a:p>
          <a:p>
            <a:r>
              <a:rPr lang="en-US" b="1" dirty="0"/>
              <a:t>Trucking</a:t>
            </a:r>
            <a:r>
              <a:rPr lang="en-US" dirty="0"/>
              <a:t>: that is regional transport in Market A (company X to retailers/ customers). Product flow number 3 in Descriptive section.</a:t>
            </a:r>
          </a:p>
          <a:p>
            <a:r>
              <a:rPr lang="en-US" b="1" dirty="0"/>
              <a:t>Global shipment</a:t>
            </a:r>
            <a:r>
              <a:rPr lang="en-US" dirty="0"/>
              <a:t>: that is international transport to Market A (suppliers/ manufactures to Company X). Product flow number 1, 2 in Descriptive section</a:t>
            </a:r>
          </a:p>
        </p:txBody>
      </p:sp>
      <p:sp>
        <p:nvSpPr>
          <p:cNvPr id="6" name="Text Placeholder 5">
            <a:extLst>
              <a:ext uri="{FF2B5EF4-FFF2-40B4-BE49-F238E27FC236}">
                <a16:creationId xmlns:a16="http://schemas.microsoft.com/office/drawing/2014/main" id="{446D58BF-B229-5E70-22A3-9B13C7A1BEBB}"/>
              </a:ext>
            </a:extLst>
          </p:cNvPr>
          <p:cNvSpPr>
            <a:spLocks noGrp="1"/>
          </p:cNvSpPr>
          <p:nvPr>
            <p:ph type="body" sz="half" idx="14"/>
          </p:nvPr>
        </p:nvSpPr>
        <p:spPr>
          <a:xfrm>
            <a:off x="6550169" y="4958080"/>
            <a:ext cx="4803631" cy="1431493"/>
          </a:xfrm>
        </p:spPr>
        <p:txBody>
          <a:bodyPr/>
          <a:lstStyle/>
          <a:p>
            <a:pPr algn="ctr"/>
            <a:r>
              <a:rPr lang="en-US" dirty="0"/>
              <a:t>Using performance function that: </a:t>
            </a:r>
            <a:r>
              <a:rPr lang="en-US" b="1" dirty="0"/>
              <a:t>1 – (a/b)</a:t>
            </a:r>
          </a:p>
          <a:p>
            <a:r>
              <a:rPr lang="en-US" dirty="0"/>
              <a:t>Where: 	</a:t>
            </a:r>
            <a:r>
              <a:rPr lang="en-US" dirty="0" err="1"/>
              <a:t>i</a:t>
            </a:r>
            <a:r>
              <a:rPr lang="en-US" dirty="0"/>
              <a:t> is the total of shipments</a:t>
            </a:r>
          </a:p>
          <a:p>
            <a:r>
              <a:rPr lang="en-US" dirty="0"/>
              <a:t>	j is the cases fail (late delivery, damage)</a:t>
            </a:r>
          </a:p>
          <a:p>
            <a:endParaRPr lang="en-US" dirty="0"/>
          </a:p>
          <a:p>
            <a:pPr algn="ctr"/>
            <a:r>
              <a:rPr lang="en-US" dirty="0"/>
              <a:t>So, we can rank 3PLs based on their performance in 2025.</a:t>
            </a:r>
          </a:p>
        </p:txBody>
      </p:sp>
      <p:sp>
        <p:nvSpPr>
          <p:cNvPr id="7" name="Text Placeholder 6">
            <a:extLst>
              <a:ext uri="{FF2B5EF4-FFF2-40B4-BE49-F238E27FC236}">
                <a16:creationId xmlns:a16="http://schemas.microsoft.com/office/drawing/2014/main" id="{0D272DEC-B023-348F-D8B7-58B9900A8E25}"/>
              </a:ext>
            </a:extLst>
          </p:cNvPr>
          <p:cNvSpPr>
            <a:spLocks noGrp="1"/>
          </p:cNvSpPr>
          <p:nvPr>
            <p:ph type="body" sz="half" idx="15"/>
          </p:nvPr>
        </p:nvSpPr>
        <p:spPr/>
        <p:txBody>
          <a:bodyPr/>
          <a:lstStyle/>
          <a:p>
            <a:r>
              <a:rPr lang="en-US" dirty="0"/>
              <a:t>PRESCRIPTIVE</a:t>
            </a:r>
          </a:p>
        </p:txBody>
      </p:sp>
      <p:sp>
        <p:nvSpPr>
          <p:cNvPr id="10" name="Title 3">
            <a:extLst>
              <a:ext uri="{FF2B5EF4-FFF2-40B4-BE49-F238E27FC236}">
                <a16:creationId xmlns:a16="http://schemas.microsoft.com/office/drawing/2014/main" id="{EF1EE810-E80D-DAE9-71AB-12AE042EC620}"/>
              </a:ext>
            </a:extLst>
          </p:cNvPr>
          <p:cNvSpPr txBox="1">
            <a:spLocks/>
          </p:cNvSpPr>
          <p:nvPr/>
        </p:nvSpPr>
        <p:spPr>
          <a:xfrm>
            <a:off x="6985868" y="4485955"/>
            <a:ext cx="3932237" cy="30878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1400" b="1" kern="1200">
                <a:solidFill>
                  <a:srgbClr val="FF0000"/>
                </a:solidFill>
                <a:latin typeface="Arial" panose="020B0604020202020204" pitchFamily="34" charset="0"/>
                <a:ea typeface="+mj-ea"/>
                <a:cs typeface="Arial" panose="020B0604020202020204" pitchFamily="34" charset="0"/>
              </a:defRPr>
            </a:lvl1pPr>
          </a:lstStyle>
          <a:p>
            <a:r>
              <a:rPr lang="en-US" dirty="0"/>
              <a:t>Explain to performance</a:t>
            </a:r>
          </a:p>
        </p:txBody>
      </p:sp>
      <p:pic>
        <p:nvPicPr>
          <p:cNvPr id="14" name="Picture 13">
            <a:extLst>
              <a:ext uri="{FF2B5EF4-FFF2-40B4-BE49-F238E27FC236}">
                <a16:creationId xmlns:a16="http://schemas.microsoft.com/office/drawing/2014/main" id="{C03C0E3C-A8A1-031A-F490-7DF815FBDB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612" y="1092565"/>
            <a:ext cx="3724216" cy="790464"/>
          </a:xfrm>
          <a:prstGeom prst="rect">
            <a:avLst/>
          </a:prstGeom>
        </p:spPr>
      </p:pic>
    </p:spTree>
    <p:extLst>
      <p:ext uri="{BB962C8B-B14F-4D97-AF65-F5344CB8AC3E}">
        <p14:creationId xmlns:p14="http://schemas.microsoft.com/office/powerpoint/2010/main" val="4235371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9AC4F8-F234-2AC9-5271-7C144B06544F}"/>
              </a:ext>
            </a:extLst>
          </p:cNvPr>
          <p:cNvSpPr>
            <a:spLocks noGrp="1"/>
          </p:cNvSpPr>
          <p:nvPr>
            <p:ph type="title"/>
          </p:nvPr>
        </p:nvSpPr>
        <p:spPr>
          <a:xfrm>
            <a:off x="4129881" y="4811177"/>
            <a:ext cx="3932237" cy="308787"/>
          </a:xfrm>
        </p:spPr>
        <p:txBody>
          <a:bodyPr/>
          <a:lstStyle/>
          <a:p>
            <a:r>
              <a:rPr lang="en-US" dirty="0"/>
              <a:t>Set Objective Function</a:t>
            </a:r>
          </a:p>
        </p:txBody>
      </p:sp>
      <p:sp>
        <p:nvSpPr>
          <p:cNvPr id="5" name="Text Placeholder 4">
            <a:extLst>
              <a:ext uri="{FF2B5EF4-FFF2-40B4-BE49-F238E27FC236}">
                <a16:creationId xmlns:a16="http://schemas.microsoft.com/office/drawing/2014/main" id="{E45FF9CF-C86C-B35F-4A8B-219496A7A2DE}"/>
              </a:ext>
            </a:extLst>
          </p:cNvPr>
          <p:cNvSpPr>
            <a:spLocks noGrp="1"/>
          </p:cNvSpPr>
          <p:nvPr>
            <p:ph type="body" sz="half" idx="2"/>
          </p:nvPr>
        </p:nvSpPr>
        <p:spPr>
          <a:xfrm>
            <a:off x="2574544" y="5334000"/>
            <a:ext cx="7042910" cy="1058779"/>
          </a:xfrm>
        </p:spPr>
        <p:txBody>
          <a:bodyPr>
            <a:normAutofit/>
          </a:bodyPr>
          <a:lstStyle/>
          <a:p>
            <a:pPr algn="ctr"/>
            <a:r>
              <a:rPr lang="en-US" dirty="0"/>
              <a:t>As we know that my boss want to improve %Customer Satisfaction. Clearly, %CS depended four criteria below. If the number of cases fail is decrease, %criteria will improve according power model then %CS will also increase.</a:t>
            </a:r>
          </a:p>
          <a:p>
            <a:pPr algn="ctr"/>
            <a:r>
              <a:rPr lang="en-US" dirty="0"/>
              <a:t>So that, the objective function in this solver model </a:t>
            </a:r>
            <a:r>
              <a:rPr lang="en-US" b="1" dirty="0"/>
              <a:t>that minimum cases fail of each category</a:t>
            </a:r>
            <a:r>
              <a:rPr lang="en-US" dirty="0"/>
              <a:t>.</a:t>
            </a:r>
          </a:p>
        </p:txBody>
      </p:sp>
      <p:sp>
        <p:nvSpPr>
          <p:cNvPr id="7" name="Text Placeholder 6">
            <a:extLst>
              <a:ext uri="{FF2B5EF4-FFF2-40B4-BE49-F238E27FC236}">
                <a16:creationId xmlns:a16="http://schemas.microsoft.com/office/drawing/2014/main" id="{C27D5556-A551-A142-EE13-1B1818528DC9}"/>
              </a:ext>
            </a:extLst>
          </p:cNvPr>
          <p:cNvSpPr>
            <a:spLocks noGrp="1"/>
          </p:cNvSpPr>
          <p:nvPr>
            <p:ph type="body" sz="half" idx="15"/>
          </p:nvPr>
        </p:nvSpPr>
        <p:spPr/>
        <p:txBody>
          <a:bodyPr/>
          <a:lstStyle/>
          <a:p>
            <a:r>
              <a:rPr lang="en-US" dirty="0"/>
              <a:t>PRESCRIPTIVE</a:t>
            </a:r>
          </a:p>
        </p:txBody>
      </p:sp>
      <p:pic>
        <p:nvPicPr>
          <p:cNvPr id="10" name="Picture Placeholder 14">
            <a:extLst>
              <a:ext uri="{FF2B5EF4-FFF2-40B4-BE49-F238E27FC236}">
                <a16:creationId xmlns:a16="http://schemas.microsoft.com/office/drawing/2014/main" id="{2783C3C0-49E1-CBD3-CF60-47CC8025DA11}"/>
              </a:ext>
            </a:extLst>
          </p:cNvPr>
          <p:cNvPicPr>
            <a:picLocks noGrp="1" noChangeAspect="1"/>
          </p:cNvPicPr>
          <p:nvPr>
            <p:ph type="pic" idx="13"/>
          </p:nvPr>
        </p:nvPicPr>
        <p:blipFill rotWithShape="1">
          <a:blip r:embed="rId2"/>
          <a:srcRect l="42" r="42"/>
          <a:stretch>
            <a:fillRect/>
          </a:stretch>
        </p:blipFill>
        <p:spPr>
          <a:xfrm>
            <a:off x="836613" y="1524000"/>
            <a:ext cx="4806950" cy="2798763"/>
          </a:xfrm>
          <a:prstGeom prst="rect">
            <a:avLst/>
          </a:prstGeom>
        </p:spPr>
      </p:pic>
      <p:pic>
        <p:nvPicPr>
          <p:cNvPr id="18" name="Picture Placeholder 17">
            <a:extLst>
              <a:ext uri="{FF2B5EF4-FFF2-40B4-BE49-F238E27FC236}">
                <a16:creationId xmlns:a16="http://schemas.microsoft.com/office/drawing/2014/main" id="{4D890141-84FE-BE09-8AAE-3C1FC673F429}"/>
              </a:ext>
            </a:extLst>
          </p:cNvPr>
          <p:cNvPicPr>
            <a:picLocks noGrp="1" noChangeAspect="1"/>
          </p:cNvPicPr>
          <p:nvPr>
            <p:ph type="pic" idx="1"/>
          </p:nvPr>
        </p:nvPicPr>
        <p:blipFill rotWithShape="1">
          <a:blip r:embed="rId3"/>
          <a:srcRect t="-29114" b="-29114"/>
          <a:stretch>
            <a:fillRect/>
          </a:stretch>
        </p:blipFill>
        <p:spPr>
          <a:prstGeom prst="rect">
            <a:avLst/>
          </a:prstGeom>
        </p:spPr>
      </p:pic>
    </p:spTree>
    <p:extLst>
      <p:ext uri="{BB962C8B-B14F-4D97-AF65-F5344CB8AC3E}">
        <p14:creationId xmlns:p14="http://schemas.microsoft.com/office/powerpoint/2010/main" val="3500325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149581-9191-FC38-8C8C-5701BDC6C807}"/>
              </a:ext>
            </a:extLst>
          </p:cNvPr>
          <p:cNvSpPr>
            <a:spLocks noGrp="1"/>
          </p:cNvSpPr>
          <p:nvPr>
            <p:ph type="title"/>
          </p:nvPr>
        </p:nvSpPr>
        <p:spPr>
          <a:xfrm>
            <a:off x="4464092" y="4811175"/>
            <a:ext cx="3266991" cy="308787"/>
          </a:xfrm>
        </p:spPr>
        <p:txBody>
          <a:bodyPr/>
          <a:lstStyle/>
          <a:p>
            <a:r>
              <a:rPr lang="en-US" dirty="0"/>
              <a:t>Set Variables</a:t>
            </a:r>
          </a:p>
        </p:txBody>
      </p:sp>
      <p:sp>
        <p:nvSpPr>
          <p:cNvPr id="6" name="Text Placeholder 5">
            <a:extLst>
              <a:ext uri="{FF2B5EF4-FFF2-40B4-BE49-F238E27FC236}">
                <a16:creationId xmlns:a16="http://schemas.microsoft.com/office/drawing/2014/main" id="{8E4BEEB6-6170-DF4B-8991-7225B22BB9BE}"/>
              </a:ext>
            </a:extLst>
          </p:cNvPr>
          <p:cNvSpPr>
            <a:spLocks noGrp="1"/>
          </p:cNvSpPr>
          <p:nvPr>
            <p:ph type="body" sz="half" idx="15"/>
          </p:nvPr>
        </p:nvSpPr>
        <p:spPr>
          <a:xfrm>
            <a:off x="2872125" y="5330794"/>
            <a:ext cx="6447748" cy="1058779"/>
          </a:xfrm>
        </p:spPr>
        <p:txBody>
          <a:bodyPr/>
          <a:lstStyle/>
          <a:p>
            <a:pPr algn="ctr"/>
            <a:r>
              <a:rPr lang="en-US" dirty="0"/>
              <a:t>The orange cells is variables, that is the number of shipments that company X separated to nine 3PLs. Based on 3PLs performance, we can calculate the number of cases fail like late delivery and damage.</a:t>
            </a:r>
          </a:p>
        </p:txBody>
      </p:sp>
      <p:sp>
        <p:nvSpPr>
          <p:cNvPr id="9" name="Text Placeholder 8">
            <a:extLst>
              <a:ext uri="{FF2B5EF4-FFF2-40B4-BE49-F238E27FC236}">
                <a16:creationId xmlns:a16="http://schemas.microsoft.com/office/drawing/2014/main" id="{A3241506-006F-C6C9-1F69-14B535DC4B75}"/>
              </a:ext>
            </a:extLst>
          </p:cNvPr>
          <p:cNvSpPr>
            <a:spLocks noGrp="1"/>
          </p:cNvSpPr>
          <p:nvPr>
            <p:ph type="body" sz="half" idx="18"/>
          </p:nvPr>
        </p:nvSpPr>
        <p:spPr/>
        <p:txBody>
          <a:bodyPr/>
          <a:lstStyle/>
          <a:p>
            <a:r>
              <a:rPr lang="en-US" dirty="0"/>
              <a:t>PRESCRIPTIVE</a:t>
            </a:r>
          </a:p>
        </p:txBody>
      </p:sp>
      <p:pic>
        <p:nvPicPr>
          <p:cNvPr id="15" name="Picture Placeholder 14">
            <a:extLst>
              <a:ext uri="{FF2B5EF4-FFF2-40B4-BE49-F238E27FC236}">
                <a16:creationId xmlns:a16="http://schemas.microsoft.com/office/drawing/2014/main" id="{37BD8159-9731-20D0-7545-ECA2B3F559DC}"/>
              </a:ext>
            </a:extLst>
          </p:cNvPr>
          <p:cNvPicPr>
            <a:picLocks noGrp="1" noChangeAspect="1"/>
          </p:cNvPicPr>
          <p:nvPr>
            <p:ph type="pic" idx="14"/>
          </p:nvPr>
        </p:nvPicPr>
        <p:blipFill rotWithShape="1">
          <a:blip r:embed="rId2"/>
          <a:srcRect t="-3296" b="-3296"/>
          <a:stretch>
            <a:fillRect/>
          </a:stretch>
        </p:blipFill>
        <p:spPr>
          <a:xfrm>
            <a:off x="2230438" y="1524000"/>
            <a:ext cx="7731125" cy="2798763"/>
          </a:xfrm>
          <a:prstGeom prst="rect">
            <a:avLst/>
          </a:prstGeom>
        </p:spPr>
      </p:pic>
    </p:spTree>
    <p:extLst>
      <p:ext uri="{BB962C8B-B14F-4D97-AF65-F5344CB8AC3E}">
        <p14:creationId xmlns:p14="http://schemas.microsoft.com/office/powerpoint/2010/main" val="291456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080113-53FC-B58C-4C36-AB23B4474237}"/>
              </a:ext>
            </a:extLst>
          </p:cNvPr>
          <p:cNvSpPr>
            <a:spLocks noGrp="1"/>
          </p:cNvSpPr>
          <p:nvPr>
            <p:ph type="title"/>
          </p:nvPr>
        </p:nvSpPr>
        <p:spPr>
          <a:xfrm>
            <a:off x="6985865" y="2843922"/>
            <a:ext cx="3932237" cy="308787"/>
          </a:xfrm>
        </p:spPr>
        <p:txBody>
          <a:bodyPr/>
          <a:lstStyle/>
          <a:p>
            <a:r>
              <a:rPr lang="en-US" dirty="0"/>
              <a:t>Set Constraints</a:t>
            </a:r>
          </a:p>
        </p:txBody>
      </p:sp>
      <p:sp>
        <p:nvSpPr>
          <p:cNvPr id="6" name="Text Placeholder 5">
            <a:extLst>
              <a:ext uri="{FF2B5EF4-FFF2-40B4-BE49-F238E27FC236}">
                <a16:creationId xmlns:a16="http://schemas.microsoft.com/office/drawing/2014/main" id="{F8CCE683-A78F-A82B-A4D2-50568894CD9E}"/>
              </a:ext>
            </a:extLst>
          </p:cNvPr>
          <p:cNvSpPr>
            <a:spLocks noGrp="1"/>
          </p:cNvSpPr>
          <p:nvPr>
            <p:ph type="body" sz="half" idx="14"/>
          </p:nvPr>
        </p:nvSpPr>
        <p:spPr>
          <a:xfrm>
            <a:off x="6551756" y="3423921"/>
            <a:ext cx="4803631" cy="568960"/>
          </a:xfrm>
        </p:spPr>
        <p:txBody>
          <a:bodyPr/>
          <a:lstStyle/>
          <a:p>
            <a:pPr algn="ctr"/>
            <a:r>
              <a:rPr lang="en-US" dirty="0"/>
              <a:t>Based on boss’s requirements, there are four important constraints to keep product flow fluency. </a:t>
            </a:r>
          </a:p>
        </p:txBody>
      </p:sp>
      <p:sp>
        <p:nvSpPr>
          <p:cNvPr id="7" name="Text Placeholder 6">
            <a:extLst>
              <a:ext uri="{FF2B5EF4-FFF2-40B4-BE49-F238E27FC236}">
                <a16:creationId xmlns:a16="http://schemas.microsoft.com/office/drawing/2014/main" id="{90047FCD-B733-557A-107E-8F39C72121BC}"/>
              </a:ext>
            </a:extLst>
          </p:cNvPr>
          <p:cNvSpPr>
            <a:spLocks noGrp="1"/>
          </p:cNvSpPr>
          <p:nvPr>
            <p:ph type="body" sz="half" idx="15"/>
          </p:nvPr>
        </p:nvSpPr>
        <p:spPr/>
        <p:txBody>
          <a:bodyPr/>
          <a:lstStyle/>
          <a:p>
            <a:r>
              <a:rPr lang="en-US" dirty="0"/>
              <a:t>PRESCRIPTIVE</a:t>
            </a:r>
          </a:p>
        </p:txBody>
      </p:sp>
      <p:pic>
        <p:nvPicPr>
          <p:cNvPr id="47" name="Picture Placeholder 46">
            <a:extLst>
              <a:ext uri="{FF2B5EF4-FFF2-40B4-BE49-F238E27FC236}">
                <a16:creationId xmlns:a16="http://schemas.microsoft.com/office/drawing/2014/main" id="{A447CE93-DCE1-8857-6F07-3CC90B2885BF}"/>
              </a:ext>
            </a:extLst>
          </p:cNvPr>
          <p:cNvPicPr>
            <a:picLocks noGrp="1" noChangeAspect="1"/>
          </p:cNvPicPr>
          <p:nvPr>
            <p:ph type="pic" idx="13"/>
          </p:nvPr>
        </p:nvPicPr>
        <p:blipFill rotWithShape="1">
          <a:blip r:embed="rId2"/>
          <a:srcRect t="-1847" b="-1847"/>
          <a:stretch>
            <a:fillRect/>
          </a:stretch>
        </p:blipFill>
        <p:spPr>
          <a:xfrm>
            <a:off x="836613" y="1524000"/>
            <a:ext cx="4806950" cy="3846513"/>
          </a:xfrm>
          <a:prstGeom prst="rect">
            <a:avLst/>
          </a:prstGeom>
        </p:spPr>
      </p:pic>
    </p:spTree>
    <p:extLst>
      <p:ext uri="{BB962C8B-B14F-4D97-AF65-F5344CB8AC3E}">
        <p14:creationId xmlns:p14="http://schemas.microsoft.com/office/powerpoint/2010/main" val="2842038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70501367-7E13-0944-2B00-3F85DA0021C9}"/>
              </a:ext>
            </a:extLst>
          </p:cNvPr>
          <p:cNvPicPr>
            <a:picLocks noGrp="1" noChangeAspect="1"/>
          </p:cNvPicPr>
          <p:nvPr>
            <p:ph type="pic" idx="1"/>
          </p:nvPr>
        </p:nvPicPr>
        <p:blipFill rotWithShape="1">
          <a:blip r:embed="rId2"/>
          <a:srcRect t="-35716" b="-35716"/>
          <a:stretch>
            <a:fillRect/>
          </a:stretch>
        </p:blipFill>
        <p:spPr>
          <a:prstGeom prst="rect">
            <a:avLst/>
          </a:prstGeom>
        </p:spPr>
      </p:pic>
      <p:sp>
        <p:nvSpPr>
          <p:cNvPr id="4" name="Title 3">
            <a:extLst>
              <a:ext uri="{FF2B5EF4-FFF2-40B4-BE49-F238E27FC236}">
                <a16:creationId xmlns:a16="http://schemas.microsoft.com/office/drawing/2014/main" id="{9B30A1D1-92DB-BA5E-4B1E-0CC9FB1C4556}"/>
              </a:ext>
            </a:extLst>
          </p:cNvPr>
          <p:cNvSpPr>
            <a:spLocks noGrp="1"/>
          </p:cNvSpPr>
          <p:nvPr>
            <p:ph type="title"/>
          </p:nvPr>
        </p:nvSpPr>
        <p:spPr>
          <a:xfrm>
            <a:off x="4129881" y="4811175"/>
            <a:ext cx="3932237" cy="308787"/>
          </a:xfrm>
        </p:spPr>
        <p:txBody>
          <a:bodyPr/>
          <a:lstStyle/>
          <a:p>
            <a:r>
              <a:rPr lang="en-US" dirty="0"/>
              <a:t>Result</a:t>
            </a:r>
          </a:p>
        </p:txBody>
      </p:sp>
      <p:sp>
        <p:nvSpPr>
          <p:cNvPr id="5" name="Text Placeholder 4">
            <a:extLst>
              <a:ext uri="{FF2B5EF4-FFF2-40B4-BE49-F238E27FC236}">
                <a16:creationId xmlns:a16="http://schemas.microsoft.com/office/drawing/2014/main" id="{E705E47C-BCE5-BFDC-2BED-EB021AFFA060}"/>
              </a:ext>
            </a:extLst>
          </p:cNvPr>
          <p:cNvSpPr>
            <a:spLocks noGrp="1"/>
          </p:cNvSpPr>
          <p:nvPr>
            <p:ph type="body" sz="half" idx="2"/>
          </p:nvPr>
        </p:nvSpPr>
        <p:spPr>
          <a:xfrm>
            <a:off x="2609090" y="5330794"/>
            <a:ext cx="6973817" cy="1058779"/>
          </a:xfrm>
        </p:spPr>
        <p:txBody>
          <a:bodyPr/>
          <a:lstStyle/>
          <a:p>
            <a:pPr algn="ctr"/>
            <a:r>
              <a:rPr lang="en-US" dirty="0"/>
              <a:t>As a result, the output of objective function is </a:t>
            </a:r>
            <a:r>
              <a:rPr lang="en-US" b="1" dirty="0"/>
              <a:t>52,795 cases fail</a:t>
            </a:r>
          </a:p>
          <a:p>
            <a:pPr algn="ctr"/>
            <a:r>
              <a:rPr lang="en-US" dirty="0"/>
              <a:t>Especially, we can see the improvements of each different cases fail. It is boosted up!</a:t>
            </a:r>
          </a:p>
        </p:txBody>
      </p:sp>
      <p:sp>
        <p:nvSpPr>
          <p:cNvPr id="7" name="Text Placeholder 6">
            <a:extLst>
              <a:ext uri="{FF2B5EF4-FFF2-40B4-BE49-F238E27FC236}">
                <a16:creationId xmlns:a16="http://schemas.microsoft.com/office/drawing/2014/main" id="{B89622BF-3D2F-20F2-02B9-D6B89C2C28E3}"/>
              </a:ext>
            </a:extLst>
          </p:cNvPr>
          <p:cNvSpPr>
            <a:spLocks noGrp="1"/>
          </p:cNvSpPr>
          <p:nvPr>
            <p:ph type="body" sz="half" idx="15"/>
          </p:nvPr>
        </p:nvSpPr>
        <p:spPr/>
        <p:txBody>
          <a:bodyPr/>
          <a:lstStyle/>
          <a:p>
            <a:r>
              <a:rPr lang="en-US" dirty="0"/>
              <a:t>PRESCRIPTIVE</a:t>
            </a:r>
          </a:p>
        </p:txBody>
      </p:sp>
      <p:pic>
        <p:nvPicPr>
          <p:cNvPr id="17" name="Picture Placeholder 16">
            <a:extLst>
              <a:ext uri="{FF2B5EF4-FFF2-40B4-BE49-F238E27FC236}">
                <a16:creationId xmlns:a16="http://schemas.microsoft.com/office/drawing/2014/main" id="{CFE8A15B-4706-31DE-9E45-A1564971D10D}"/>
              </a:ext>
            </a:extLst>
          </p:cNvPr>
          <p:cNvPicPr>
            <a:picLocks noGrp="1" noChangeAspect="1"/>
          </p:cNvPicPr>
          <p:nvPr>
            <p:ph type="pic" idx="13"/>
          </p:nvPr>
        </p:nvPicPr>
        <p:blipFill rotWithShape="1">
          <a:blip r:embed="rId3"/>
          <a:srcRect t="-56406" b="-56406"/>
          <a:stretch>
            <a:fillRect/>
          </a:stretch>
        </p:blipFill>
        <p:spPr>
          <a:prstGeom prst="rect">
            <a:avLst/>
          </a:prstGeom>
        </p:spPr>
      </p:pic>
    </p:spTree>
    <p:extLst>
      <p:ext uri="{BB962C8B-B14F-4D97-AF65-F5344CB8AC3E}">
        <p14:creationId xmlns:p14="http://schemas.microsoft.com/office/powerpoint/2010/main" val="637553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03567099-A28D-1352-03B3-C9B35B637682}"/>
              </a:ext>
            </a:extLst>
          </p:cNvPr>
          <p:cNvPicPr>
            <a:picLocks noGrp="1" noChangeAspect="1"/>
          </p:cNvPicPr>
          <p:nvPr>
            <p:ph type="pic" idx="13"/>
          </p:nvPr>
        </p:nvPicPr>
        <p:blipFill rotWithShape="1">
          <a:blip r:embed="rId2"/>
          <a:srcRect t="-5582" b="-5582"/>
          <a:stretch>
            <a:fillRect/>
          </a:stretch>
        </p:blipFill>
        <p:spPr>
          <a:xfrm>
            <a:off x="3692597" y="1523999"/>
            <a:ext cx="4806806" cy="2798619"/>
          </a:xfrm>
          <a:prstGeom prst="rect">
            <a:avLst/>
          </a:prstGeom>
        </p:spPr>
      </p:pic>
      <p:sp>
        <p:nvSpPr>
          <p:cNvPr id="4" name="Title 3">
            <a:extLst>
              <a:ext uri="{FF2B5EF4-FFF2-40B4-BE49-F238E27FC236}">
                <a16:creationId xmlns:a16="http://schemas.microsoft.com/office/drawing/2014/main" id="{1CC26ED3-3701-27E8-6347-9B98AAACB7E7}"/>
              </a:ext>
            </a:extLst>
          </p:cNvPr>
          <p:cNvSpPr>
            <a:spLocks noGrp="1"/>
          </p:cNvSpPr>
          <p:nvPr>
            <p:ph type="title"/>
          </p:nvPr>
        </p:nvSpPr>
        <p:spPr/>
        <p:txBody>
          <a:bodyPr/>
          <a:lstStyle/>
          <a:p>
            <a:r>
              <a:rPr lang="en-US" dirty="0"/>
              <a:t>Conclusion</a:t>
            </a:r>
          </a:p>
        </p:txBody>
      </p:sp>
      <p:sp>
        <p:nvSpPr>
          <p:cNvPr id="5" name="Text Placeholder 4">
            <a:extLst>
              <a:ext uri="{FF2B5EF4-FFF2-40B4-BE49-F238E27FC236}">
                <a16:creationId xmlns:a16="http://schemas.microsoft.com/office/drawing/2014/main" id="{88C38160-7FDF-8CC3-930B-951A51C7D964}"/>
              </a:ext>
            </a:extLst>
          </p:cNvPr>
          <p:cNvSpPr>
            <a:spLocks noGrp="1"/>
          </p:cNvSpPr>
          <p:nvPr>
            <p:ph type="body" sz="half" idx="2"/>
          </p:nvPr>
        </p:nvSpPr>
        <p:spPr/>
        <p:txBody>
          <a:bodyPr/>
          <a:lstStyle/>
          <a:p>
            <a:pPr algn="ctr"/>
            <a:r>
              <a:rPr lang="en-US" dirty="0"/>
              <a:t>As conclusion, we can see that there are improvements in %Customer Satisfaction and criteria when we distributed different the number of shipments to 3PLs.</a:t>
            </a:r>
          </a:p>
        </p:txBody>
      </p:sp>
      <p:sp>
        <p:nvSpPr>
          <p:cNvPr id="6" name="Text Placeholder 5">
            <a:extLst>
              <a:ext uri="{FF2B5EF4-FFF2-40B4-BE49-F238E27FC236}">
                <a16:creationId xmlns:a16="http://schemas.microsoft.com/office/drawing/2014/main" id="{C4DC9807-2698-E601-DD56-1005FA747645}"/>
              </a:ext>
            </a:extLst>
          </p:cNvPr>
          <p:cNvSpPr>
            <a:spLocks noGrp="1"/>
          </p:cNvSpPr>
          <p:nvPr>
            <p:ph type="body" sz="half" idx="14"/>
          </p:nvPr>
        </p:nvSpPr>
        <p:spPr>
          <a:xfrm>
            <a:off x="6550169" y="5330794"/>
            <a:ext cx="4803631" cy="1232566"/>
          </a:xfrm>
        </p:spPr>
        <p:txBody>
          <a:bodyPr>
            <a:normAutofit/>
          </a:bodyPr>
          <a:lstStyle/>
          <a:p>
            <a:r>
              <a:rPr lang="en-US" dirty="0"/>
              <a:t>In this case, to maximum the %Customer Satisfaction, we need to manage more than 9 3PLs, reach to good 3PLs to meet customer demand on time in full and our production plan.</a:t>
            </a:r>
          </a:p>
          <a:p>
            <a:r>
              <a:rPr lang="en-US" dirty="0"/>
              <a:t>Out of that case, we need to consider other criteria like supplier’s quality, plant production,… to improve %Customer Satisfaction continuously.</a:t>
            </a:r>
          </a:p>
        </p:txBody>
      </p:sp>
      <p:sp>
        <p:nvSpPr>
          <p:cNvPr id="7" name="Text Placeholder 6">
            <a:extLst>
              <a:ext uri="{FF2B5EF4-FFF2-40B4-BE49-F238E27FC236}">
                <a16:creationId xmlns:a16="http://schemas.microsoft.com/office/drawing/2014/main" id="{70A3F793-16C6-641B-733A-CFF2B892C59B}"/>
              </a:ext>
            </a:extLst>
          </p:cNvPr>
          <p:cNvSpPr>
            <a:spLocks noGrp="1"/>
          </p:cNvSpPr>
          <p:nvPr>
            <p:ph type="body" sz="half" idx="15"/>
          </p:nvPr>
        </p:nvSpPr>
        <p:spPr/>
        <p:txBody>
          <a:bodyPr/>
          <a:lstStyle/>
          <a:p>
            <a:r>
              <a:rPr lang="en-US" dirty="0"/>
              <a:t>PRESCRIPTIVE</a:t>
            </a:r>
          </a:p>
        </p:txBody>
      </p:sp>
      <p:sp>
        <p:nvSpPr>
          <p:cNvPr id="10" name="Title 3">
            <a:extLst>
              <a:ext uri="{FF2B5EF4-FFF2-40B4-BE49-F238E27FC236}">
                <a16:creationId xmlns:a16="http://schemas.microsoft.com/office/drawing/2014/main" id="{386DC6DF-BBFC-F354-B3E9-62A228A07A8A}"/>
              </a:ext>
            </a:extLst>
          </p:cNvPr>
          <p:cNvSpPr txBox="1">
            <a:spLocks/>
          </p:cNvSpPr>
          <p:nvPr/>
        </p:nvSpPr>
        <p:spPr>
          <a:xfrm>
            <a:off x="6985868" y="4811175"/>
            <a:ext cx="3932237" cy="30878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1400" b="1" kern="1200">
                <a:solidFill>
                  <a:srgbClr val="FF0000"/>
                </a:solidFill>
                <a:latin typeface="Arial" panose="020B0604020202020204" pitchFamily="34" charset="0"/>
                <a:ea typeface="+mj-ea"/>
                <a:cs typeface="Arial" panose="020B0604020202020204" pitchFamily="34" charset="0"/>
              </a:defRPr>
            </a:lvl1pPr>
          </a:lstStyle>
          <a:p>
            <a:r>
              <a:rPr lang="en-US" dirty="0"/>
              <a:t>Some Advise</a:t>
            </a:r>
          </a:p>
        </p:txBody>
      </p:sp>
    </p:spTree>
    <p:extLst>
      <p:ext uri="{BB962C8B-B14F-4D97-AF65-F5344CB8AC3E}">
        <p14:creationId xmlns:p14="http://schemas.microsoft.com/office/powerpoint/2010/main" val="959684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2740</TotalTime>
  <Words>1374</Words>
  <Application>Microsoft Office PowerPoint</Application>
  <PresentationFormat>Widescreen</PresentationFormat>
  <Paragraphs>97</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Requirements</vt:lpstr>
      <vt:lpstr>Suppose Supply Chain Flow</vt:lpstr>
      <vt:lpstr>Created 2025 Simulation Dataset</vt:lpstr>
      <vt:lpstr>Using DAX to create measures</vt:lpstr>
      <vt:lpstr>Customer Satisfaction Function</vt:lpstr>
      <vt:lpstr>BI Descriptive Dashboard</vt:lpstr>
      <vt:lpstr>Power Model</vt:lpstr>
      <vt:lpstr>Yearly Predictive Model</vt:lpstr>
      <vt:lpstr>Predictive Model (Yearly to Monthly)</vt:lpstr>
      <vt:lpstr>BI Dashboard</vt:lpstr>
      <vt:lpstr>Example: View in FEB-2026</vt:lpstr>
      <vt:lpstr>Overall 2025 historical data</vt:lpstr>
      <vt:lpstr>Set Objective Function</vt:lpstr>
      <vt:lpstr>Set Variables</vt:lpstr>
      <vt:lpstr>Set Constraints</vt:lpstr>
      <vt:lpstr>Result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Dinh Quang Vinh</dc:creator>
  <cp:lastModifiedBy>Dinh Quang Vinh</cp:lastModifiedBy>
  <cp:revision>12</cp:revision>
  <cp:lastPrinted>2026-03-06T07:36:38Z</cp:lastPrinted>
  <dcterms:created xsi:type="dcterms:W3CDTF">2026-03-04T13:37:46Z</dcterms:created>
  <dcterms:modified xsi:type="dcterms:W3CDTF">2026-03-11T08:48:39Z</dcterms:modified>
</cp:coreProperties>
</file>